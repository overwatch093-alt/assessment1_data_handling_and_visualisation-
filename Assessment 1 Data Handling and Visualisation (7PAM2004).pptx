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DM Sans" pitchFamily="2" charset="0"/>
      <p:regular r:id="rId17"/>
    </p:embeddedFont>
    <p:embeddedFont>
      <p:font typeface="Montserrat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2" d="100"/>
          <a:sy n="102" d="100"/>
        </p:scale>
        <p:origin x="580"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0:00–0:30 — Good day, Andy. My name is Truong Tan Phat, and today I will present my analytical solution for Assessment 1 in Data Handling and Visualisation. To provide a clear analytical structure across both datasets, each problem section opens with a statistical pre-summary slide and concludes with a post-problem synthesis slide that translates visual findings into fleet operations.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0:30–1:10 — Before generating any visuals, I structured the notebook into modular functions enforcing 14-point minimum typography and double-encoded colorblind accessibility. I also converted normalized weather variables back into physical Celsius, percentage, and kilometer-per-hour units. Under our four-pillar data quality audit, although explicit null checks returned zero missing values, boundary inspection revealed a hidden sensor dropout on March 10, 2011, where humidity was logged as zero percent during rain. I imputed this to 63.0 percent using a 7-day rolling median.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1:10–1:45 — This pre-summary slide establishes the statistical baseline for Problem 1 across all 731 days. Total daily volume averages 4,504.3 rides with a median of 4,548.0 and a standard deviation of 1,937.2. Registered commuters account for over 81 percent of daily volume at a mean of 3,656.2 rides, whereas casual riders average 848.2 rides with pronounced right skewness. Figures 1 through 3 will now unpack these distributions.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1:45–2:20 — In Figure 1, pairing a kernel density violin plot with jittered observations and hatching textures exposes the full distributional impact of weather. Under clear skies, ridership is symmetrically distributed around a median of 4,844.0 rides per day. During light snow or rain, however, mean daily volume contracts by 63.0 percent to 1,803.3 rides, with a median of 1,817.0. The compressed upper neck confirms that precipitation imposes a strict operational ceiling.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2:20–2:55 — Figure 2 explains behavioral elasticity by separating registered commuters from casual users across ambient Celsius temperatures. Registered riders—encoded with blue circles and a solid OLS line—start from a freezing intercept of 1,376.0 rides and grow by 112.3 rides per degree Celsius, sustaining 2,000 to 4,000 daily trips even below 10 degrees. Conversely, casual riders—encoded with orange triangles and a dashed line—exhibit a slope of 49.7 rides per degree and vanish below 10 degrees Celsius.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2:55–3:25 — Figure 3 tracks the full two-year adoption trajectory using a 14-day moving average to smooth out daily weather fluctuations. At the January 1, 2012 milestone marker, we observe a clear structural ratchet effect: the winter low in early 2012 stayed above 2,041.4 daily rides, surpassing the early spring expansion peak of 2011. Total annual volume grew 64.9 percent year-over-year from 1.24 million to 2.05 million rides.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3:25–3:50 — To wrap up Problem 1, our three macro charts establish three linked conclusions: precipitation imposes a 63 percent contraction ceiling, registered commuters anchor winter demand below 10 degrees Celsius, and network expansion drove a 64.9 percent annual surge. However, daily totals cannot tell logistics crews when to move bikes during the day, which brings us to Problem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3:50–4:25 — Opening Problem 2, this pre-summary table profiles all 17,379 hourly records in dataset_x.csv. Across the full dataset, hourly rentals average 189.5 with a median of 142.0, a standard deviation of 181.4, and extreme peak surges reaching 977.0 rides per hour. Supplied Charts A and B completely obscure these diurnal and distributional patterns, which we now resolve in Figures 4, 5, and 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4:25–5:05 — Supplied Chart A uses a 24-slice pie chart that violates Stevens' Power Law, causes severe label collisions between midnight and 5 AM, and pools all days together. In Figure 4, I replaced the pie chart with a Cartesian dual-line plot decomposed by day type. Working days immediately reveal sharp bimodal rush-hour peaks at 08:00 with 477.0 rides per hour and 17:00 with 525.3 rides per hour, whereas weekends form a smooth unimodal plateau between noon and 2 PM peaking at 372.7 rides per hour.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4:25–5:05 — Supplied Chart A uses a 24-slice pie chart that violates Stevens' Power Law, causes severe label collisions between midnight and 5 AM, and pools all days together. In Figure 4, I replaced the pie chart with a Cartesian dual-line plot decomposed by day type. Working days immediately reveal sharp bimodal rush-hour peaks at 08:00 with 477.0 rides per hour and 17:00 with 525.3 rides per hour, whereas weekends form a smooth unimodal plateau between noon and 2 PM peaking at 372.7 rides per hour.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5:05–5:45 — Supplied Chart B truncates its vertical axis at 110 instead of zero, visually exaggerating Season 3 to look ten times larger than Season 1 when the true mean is 236.0 versus 111.1 rides per hour. Figure 5 restores a zero-anchored baseline using a seasonal boxplot with explicit black mean dots. In addition to showing honest seasonal averages, the boxplot exposes extreme peak-hour outliers above 800 to 977.0 rides per hour that govern docking station capacity.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5:05–5:45 — Supplied Chart B truncates its vertical axis at 110 instead of zero, visually exaggerating Season 3 to look ten times larger than Season 1 when the true mean is 236.0 versus 111.1 rides per hour. Figure 5 restores a zero-anchored baseline using a seasonal boxplot with explicit black mean dots. In addition to showing honest seasonal averages, the boxplot exposes extreme peak-hour outliers above 800 to 977.0 rides per hour that govern docking station capacity.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5:45–6:20 — While Figures 4 and 5 resolve diurnal and seasonal patterns separately, Figure 6 introduces a two-dimensional sensitivity matrix to examine how weather interacts with seasonality. Under clear skies, demand peaks in Fall at 244.5 rides per hour. However, rain or snow in peak Fall pulls ridership down to 172.0 rides per hour—lower than the 209.5 rides per hour achieved on a clear Winter day. Meanwhile, rainy Spring hours hit the network floor at 58.7 rides per hour.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6:20–6:50 — In closing, this final synthesis slide connects Problem 2 and our overarching visual design principles—honest zero-anchored baselines, full distributional transparency, and double-encoded accessibility—into three concrete policies: dynamic weekday versus weekend van rebalancing, station dock sizing for 800-plus per hour peak surges, and opportunistic fleet maintenance during rainy low-demand windows. Thank you, Andy, and I welcome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grpSp>
        <p:nvGrpSpPr>
          <p:cNvPr id="2" name="Group 2"/>
          <p:cNvGrpSpPr/>
          <p:nvPr/>
        </p:nvGrpSpPr>
        <p:grpSpPr>
          <a:xfrm>
            <a:off x="12192000" y="0"/>
            <a:ext cx="6096000" cy="10287000"/>
            <a:chOff x="0" y="0"/>
            <a:chExt cx="8128000" cy="13716000"/>
          </a:xfrm>
        </p:grpSpPr>
        <p:sp>
          <p:nvSpPr>
            <p:cNvPr id="3" name="Freeform 3"/>
            <p:cNvSpPr/>
            <p:nvPr/>
          </p:nvSpPr>
          <p:spPr>
            <a:xfrm>
              <a:off x="0" y="0"/>
              <a:ext cx="8128000" cy="13716000"/>
            </a:xfrm>
            <a:custGeom>
              <a:avLst/>
              <a:gdLst/>
              <a:ahLst/>
              <a:cxnLst/>
              <a:rect l="l" t="t" r="r" b="b"/>
              <a:pathLst>
                <a:path w="8128000" h="13716000">
                  <a:moveTo>
                    <a:pt x="0" y="0"/>
                  </a:moveTo>
                  <a:lnTo>
                    <a:pt x="8128000" y="0"/>
                  </a:lnTo>
                  <a:lnTo>
                    <a:pt x="8128000" y="13716000"/>
                  </a:lnTo>
                  <a:lnTo>
                    <a:pt x="0" y="13716000"/>
                  </a:lnTo>
                  <a:close/>
                </a:path>
              </a:pathLst>
            </a:custGeom>
            <a:gradFill rotWithShape="1">
              <a:gsLst>
                <a:gs pos="0">
                  <a:srgbClr val="1769AA">
                    <a:alpha val="100000"/>
                  </a:srgbClr>
                </a:gs>
                <a:gs pos="100000">
                  <a:srgbClr val="0B1F3A">
                    <a:alpha val="100000"/>
                  </a:srgbClr>
                </a:gs>
              </a:gsLst>
              <a:lin ang="0"/>
            </a:gradFill>
            <a:ln cap="sq">
              <a:noFill/>
              <a:prstDash val="solid"/>
              <a:miter/>
            </a:ln>
          </p:spPr>
          <p:txBody>
            <a:bodyPr/>
            <a:lstStyle/>
            <a:p>
              <a:endParaRPr lang="en-US"/>
            </a:p>
          </p:txBody>
        </p:sp>
        <p:sp>
          <p:nvSpPr>
            <p:cNvPr id="4" name="TextBox 4"/>
            <p:cNvSpPr txBox="1"/>
            <p:nvPr/>
          </p:nvSpPr>
          <p:spPr>
            <a:xfrm>
              <a:off x="0" y="-38100"/>
              <a:ext cx="8128000" cy="137541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800100" y="828675"/>
            <a:ext cx="10287000" cy="299085"/>
          </a:xfrm>
          <a:prstGeom prst="rect">
            <a:avLst/>
          </a:prstGeom>
        </p:spPr>
        <p:txBody>
          <a:bodyPr lIns="0" tIns="0" rIns="0" bIns="0" rtlCol="0" anchor="t">
            <a:spAutoFit/>
          </a:bodyPr>
          <a:lstStyle/>
          <a:p>
            <a:pPr algn="l">
              <a:lnSpc>
                <a:spcPts val="2430"/>
              </a:lnSpc>
            </a:pPr>
            <a:r>
              <a:rPr lang="en-US" sz="1800" spc="215">
                <a:solidFill>
                  <a:srgbClr val="FFFFFF"/>
                </a:solidFill>
                <a:latin typeface="DM Sans"/>
                <a:ea typeface="DM Sans"/>
                <a:cs typeface="DM Sans"/>
                <a:sym typeface="DM Sans"/>
              </a:rPr>
              <a:t>· ASSESSMENT 1</a:t>
            </a:r>
          </a:p>
        </p:txBody>
      </p:sp>
      <p:sp>
        <p:nvSpPr>
          <p:cNvPr id="6" name="TextBox 6"/>
          <p:cNvSpPr txBox="1"/>
          <p:nvPr/>
        </p:nvSpPr>
        <p:spPr>
          <a:xfrm>
            <a:off x="800100" y="1781175"/>
            <a:ext cx="10668000" cy="1442085"/>
          </a:xfrm>
          <a:prstGeom prst="rect">
            <a:avLst/>
          </a:prstGeom>
        </p:spPr>
        <p:txBody>
          <a:bodyPr lIns="0" tIns="0" rIns="0" bIns="0" rtlCol="0" anchor="t">
            <a:spAutoFit/>
          </a:bodyPr>
          <a:lstStyle/>
          <a:p>
            <a:pPr algn="l">
              <a:lnSpc>
                <a:spcPts val="5670"/>
              </a:lnSpc>
            </a:pPr>
            <a:r>
              <a:rPr lang="en-US" sz="5250" b="1">
                <a:solidFill>
                  <a:srgbClr val="FFFFFF"/>
                </a:solidFill>
                <a:latin typeface="Montserrat Bold"/>
                <a:ea typeface="Montserrat Bold"/>
                <a:cs typeface="Montserrat Bold"/>
                <a:sym typeface="Montserrat Bold"/>
              </a:rPr>
              <a:t>Assessment 1: Data Handling and Visualisation (7PAM2004)</a:t>
            </a:r>
          </a:p>
        </p:txBody>
      </p:sp>
      <p:sp>
        <p:nvSpPr>
          <p:cNvPr id="7" name="TextBox 7"/>
          <p:cNvSpPr txBox="1"/>
          <p:nvPr/>
        </p:nvSpPr>
        <p:spPr>
          <a:xfrm>
            <a:off x="800100" y="4248150"/>
            <a:ext cx="10096500" cy="757238"/>
          </a:xfrm>
          <a:prstGeom prst="rect">
            <a:avLst/>
          </a:prstGeom>
        </p:spPr>
        <p:txBody>
          <a:bodyPr lIns="0" tIns="0" rIns="0" bIns="0" rtlCol="0" anchor="t">
            <a:spAutoFit/>
          </a:bodyPr>
          <a:lstStyle/>
          <a:p>
            <a:pPr algn="l">
              <a:lnSpc>
                <a:spcPts val="3037"/>
              </a:lnSpc>
            </a:pPr>
            <a:r>
              <a:rPr lang="en-US" sz="2250">
                <a:solidFill>
                  <a:srgbClr val="FFFFFF"/>
                </a:solidFill>
                <a:latin typeface="DM Sans"/>
                <a:ea typeface="DM Sans"/>
                <a:cs typeface="DM Sans"/>
                <a:sym typeface="DM Sans"/>
              </a:rPr>
              <a:t>Exploratory Visual Storytelling, Perceptual Critique &amp; Multi-Dimensional Synthesis of the Capital Bikeshare Network</a:t>
            </a:r>
          </a:p>
        </p:txBody>
      </p:sp>
      <p:sp>
        <p:nvSpPr>
          <p:cNvPr id="8" name="TextBox 8"/>
          <p:cNvSpPr txBox="1"/>
          <p:nvPr/>
        </p:nvSpPr>
        <p:spPr>
          <a:xfrm>
            <a:off x="800100" y="6648450"/>
            <a:ext cx="10477500" cy="1092518"/>
          </a:xfrm>
          <a:prstGeom prst="rect">
            <a:avLst/>
          </a:prstGeom>
        </p:spPr>
        <p:txBody>
          <a:bodyPr lIns="0" tIns="0" rIns="0" bIns="0" rtlCol="0" anchor="t">
            <a:spAutoFit/>
          </a:bodyPr>
          <a:lstStyle/>
          <a:p>
            <a:pPr algn="l">
              <a:lnSpc>
                <a:spcPts val="2227"/>
              </a:lnSpc>
            </a:pPr>
            <a:r>
              <a:rPr lang="en-US" sz="1650">
                <a:solidFill>
                  <a:srgbClr val="FFFFFF"/>
                </a:solidFill>
                <a:latin typeface="DM Sans"/>
                <a:ea typeface="DM Sans"/>
                <a:cs typeface="DM Sans"/>
                <a:sym typeface="DM Sans"/>
              </a:rPr>
              <a:t>Candidate Truong Tan Phat · Student ID 9027KVDX</a:t>
            </a:r>
          </a:p>
          <a:p>
            <a:pPr algn="l">
              <a:lnSpc>
                <a:spcPts val="2227"/>
              </a:lnSpc>
            </a:pPr>
            <a:r>
              <a:rPr lang="en-US" sz="1650">
                <a:solidFill>
                  <a:srgbClr val="FFFFFF"/>
                </a:solidFill>
                <a:latin typeface="DM Sans"/>
                <a:ea typeface="DM Sans"/>
                <a:cs typeface="DM Sans"/>
                <a:sym typeface="DM Sans"/>
              </a:rPr>
              <a:t>Module Leader Dr. Michael Kuhn · Tutor Andy Tai Hock Lin</a:t>
            </a:r>
          </a:p>
          <a:p>
            <a:pPr algn="l">
              <a:lnSpc>
                <a:spcPts val="2227"/>
              </a:lnSpc>
            </a:pPr>
            <a:r>
              <a:rPr lang="en-US" sz="1650">
                <a:solidFill>
                  <a:srgbClr val="FFFFFF"/>
                </a:solidFill>
                <a:latin typeface="DM Sans"/>
                <a:ea typeface="DM Sans"/>
                <a:cs typeface="DM Sans"/>
                <a:sym typeface="DM Sans"/>
              </a:rPr>
              <a:t>PSB Academy &amp; University of Hertfordshire · MSc Data Science 2026/2027</a:t>
            </a:r>
          </a:p>
          <a:p>
            <a:pPr algn="l">
              <a:lnSpc>
                <a:spcPts val="2227"/>
              </a:lnSpc>
            </a:pPr>
            <a:endParaRPr lang="en-US" sz="1650">
              <a:solidFill>
                <a:srgbClr val="FFFFFF"/>
              </a:solidFill>
              <a:latin typeface="DM Sans"/>
              <a:ea typeface="DM Sans"/>
              <a:cs typeface="DM Sans"/>
              <a:sym typeface="DM Sans"/>
            </a:endParaRPr>
          </a:p>
        </p:txBody>
      </p:sp>
      <p:sp>
        <p:nvSpPr>
          <p:cNvPr id="9" name="TextBox 9"/>
          <p:cNvSpPr txBox="1"/>
          <p:nvPr/>
        </p:nvSpPr>
        <p:spPr>
          <a:xfrm>
            <a:off x="12954000" y="3162300"/>
            <a:ext cx="4095750" cy="929640"/>
          </a:xfrm>
          <a:prstGeom prst="rect">
            <a:avLst/>
          </a:prstGeom>
        </p:spPr>
        <p:txBody>
          <a:bodyPr lIns="0" tIns="0" rIns="0" bIns="0" rtlCol="0" anchor="t">
            <a:spAutoFit/>
          </a:bodyPr>
          <a:lstStyle/>
          <a:p>
            <a:pPr algn="l">
              <a:lnSpc>
                <a:spcPts val="2430"/>
              </a:lnSpc>
            </a:pPr>
            <a:r>
              <a:rPr lang="en-US" sz="2250" b="1">
                <a:solidFill>
                  <a:srgbClr val="FFFFFF"/>
                </a:solidFill>
                <a:latin typeface="Montserrat Bold"/>
                <a:ea typeface="Montserrat Bold"/>
                <a:cs typeface="Montserrat Bold"/>
                <a:sym typeface="Montserrat Bold"/>
              </a:rPr>
              <a:t>TECHNICAL FOUNDATION</a:t>
            </a:r>
          </a:p>
          <a:p>
            <a:pPr algn="l">
              <a:lnSpc>
                <a:spcPts val="2430"/>
              </a:lnSpc>
            </a:pPr>
            <a:r>
              <a:rPr lang="en-US" sz="2250" b="1">
                <a:solidFill>
                  <a:srgbClr val="FFFFFF"/>
                </a:solidFill>
                <a:latin typeface="Montserrat Bold"/>
                <a:ea typeface="Montserrat Bold"/>
                <a:cs typeface="Montserrat Bold"/>
                <a:sym typeface="Montserrat Bold"/>
              </a:rPr>
              <a:t>PROBLEM 1 · DAILY</a:t>
            </a:r>
          </a:p>
          <a:p>
            <a:pPr algn="l">
              <a:lnSpc>
                <a:spcPts val="2430"/>
              </a:lnSpc>
            </a:pPr>
            <a:r>
              <a:rPr lang="en-US" sz="2250" b="1">
                <a:solidFill>
                  <a:srgbClr val="FFFFFF"/>
                </a:solidFill>
                <a:latin typeface="Montserrat Bold"/>
                <a:ea typeface="Montserrat Bold"/>
                <a:cs typeface="Montserrat Bold"/>
                <a:sym typeface="Montserrat Bold"/>
              </a:rPr>
              <a:t>PROBLEM 2 · HOURLY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Modular code architecture makes quality visible</a:t>
            </a:r>
          </a:p>
        </p:txBody>
      </p:sp>
      <p:sp>
        <p:nvSpPr>
          <p:cNvPr id="3" name="TextBox 3"/>
          <p:cNvSpPr txBox="1"/>
          <p:nvPr/>
        </p:nvSpPr>
        <p:spPr>
          <a:xfrm>
            <a:off x="800100" y="1216914"/>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Reusable plotting functions · ≥14 pt · 150 DPI · action titles · colorblind-safe double encoding</a:t>
            </a:r>
          </a:p>
        </p:txBody>
      </p:sp>
      <p:grpSp>
        <p:nvGrpSpPr>
          <p:cNvPr id="4" name="Group 4"/>
          <p:cNvGrpSpPr/>
          <p:nvPr/>
        </p:nvGrpSpPr>
        <p:grpSpPr>
          <a:xfrm>
            <a:off x="800100" y="1738884"/>
            <a:ext cx="16687800" cy="1143000"/>
            <a:chOff x="0" y="0"/>
            <a:chExt cx="22250400" cy="1524000"/>
          </a:xfrm>
        </p:grpSpPr>
        <p:sp>
          <p:nvSpPr>
            <p:cNvPr id="5" name="Freeform 5"/>
            <p:cNvSpPr/>
            <p:nvPr/>
          </p:nvSpPr>
          <p:spPr>
            <a:xfrm>
              <a:off x="0" y="0"/>
              <a:ext cx="22250400" cy="1524000"/>
            </a:xfrm>
            <a:custGeom>
              <a:avLst/>
              <a:gdLst/>
              <a:ahLst/>
              <a:cxnLst/>
              <a:rect l="l" t="t" r="r" b="b"/>
              <a:pathLst>
                <a:path w="22250400" h="1524000">
                  <a:moveTo>
                    <a:pt x="0" y="0"/>
                  </a:moveTo>
                  <a:lnTo>
                    <a:pt x="22250400" y="0"/>
                  </a:lnTo>
                  <a:lnTo>
                    <a:pt x="22250400" y="1524000"/>
                  </a:lnTo>
                  <a:lnTo>
                    <a:pt x="0" y="1524000"/>
                  </a:lnTo>
                  <a:close/>
                </a:path>
              </a:pathLst>
            </a:custGeom>
            <a:solidFill>
              <a:srgbClr val="DCECF7"/>
            </a:solidFill>
            <a:ln w="9525" cap="sq">
              <a:solidFill>
                <a:srgbClr val="C7D4E2"/>
              </a:solidFill>
              <a:prstDash val="solid"/>
              <a:miter/>
            </a:ln>
          </p:spPr>
          <p:txBody>
            <a:bodyPr/>
            <a:lstStyle/>
            <a:p>
              <a:endParaRPr lang="en-US"/>
            </a:p>
          </p:txBody>
        </p:sp>
        <p:sp>
          <p:nvSpPr>
            <p:cNvPr id="6" name="TextBox 6"/>
            <p:cNvSpPr txBox="1"/>
            <p:nvPr/>
          </p:nvSpPr>
          <p:spPr>
            <a:xfrm>
              <a:off x="0" y="-38100"/>
              <a:ext cx="22250400" cy="15621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800100" y="1719834"/>
            <a:ext cx="16687800" cy="576739"/>
          </a:xfrm>
          <a:prstGeom prst="rect">
            <a:avLst/>
          </a:prstGeom>
        </p:spPr>
        <p:txBody>
          <a:bodyPr lIns="0" tIns="0" rIns="0" bIns="0" rtlCol="0" anchor="t">
            <a:spAutoFit/>
          </a:bodyPr>
          <a:lstStyle/>
          <a:p>
            <a:pPr algn="l">
              <a:lnSpc>
                <a:spcPts val="2328"/>
              </a:lnSpc>
            </a:pPr>
            <a:r>
              <a:rPr lang="en-US" sz="1725">
                <a:solidFill>
                  <a:srgbClr val="14243A"/>
                </a:solidFill>
                <a:latin typeface="DM Sans"/>
                <a:ea typeface="DM Sans"/>
                <a:cs typeface="DM Sans"/>
                <a:sym typeface="DM Sans"/>
              </a:rPr>
              <a:t>FUNCTIONS RETURN (fig, ax)</a:t>
            </a:r>
          </a:p>
          <a:p>
            <a:pPr algn="l">
              <a:lnSpc>
                <a:spcPts val="2328"/>
              </a:lnSpc>
            </a:pPr>
            <a:r>
              <a:rPr lang="en-US" sz="1725">
                <a:solidFill>
                  <a:srgbClr val="14243A"/>
                </a:solidFill>
                <a:latin typeface="DM Sans"/>
                <a:ea typeface="DM Sans"/>
                <a:cs typeface="DM Sans"/>
                <a:sym typeface="DM Sans"/>
              </a:rPr>
              <a:t>Physical-scale restoration: temperature ×41.0°C (mean 20.3°C) · humidity ×100% (mean 62.9%) · wind ×67.0 km/h (mean 12.8 km/h)</a:t>
            </a:r>
          </a:p>
        </p:txBody>
      </p:sp>
      <p:grpSp>
        <p:nvGrpSpPr>
          <p:cNvPr id="8" name="Group 8"/>
          <p:cNvGrpSpPr/>
          <p:nvPr/>
        </p:nvGrpSpPr>
        <p:grpSpPr>
          <a:xfrm>
            <a:off x="800100" y="3262884"/>
            <a:ext cx="8096250" cy="2000250"/>
            <a:chOff x="0" y="0"/>
            <a:chExt cx="10795000" cy="2667000"/>
          </a:xfrm>
        </p:grpSpPr>
        <p:sp>
          <p:nvSpPr>
            <p:cNvPr id="9" name="Freeform 9"/>
            <p:cNvSpPr/>
            <p:nvPr/>
          </p:nvSpPr>
          <p:spPr>
            <a:xfrm>
              <a:off x="0" y="0"/>
              <a:ext cx="10795000" cy="2667000"/>
            </a:xfrm>
            <a:custGeom>
              <a:avLst/>
              <a:gdLst/>
              <a:ahLst/>
              <a:cxnLst/>
              <a:rect l="l" t="t" r="r" b="b"/>
              <a:pathLst>
                <a:path w="10795000" h="2667000">
                  <a:moveTo>
                    <a:pt x="0" y="0"/>
                  </a:moveTo>
                  <a:lnTo>
                    <a:pt x="10795000" y="0"/>
                  </a:lnTo>
                  <a:lnTo>
                    <a:pt x="10795000" y="2667000"/>
                  </a:lnTo>
                  <a:lnTo>
                    <a:pt x="0" y="2667000"/>
                  </a:lnTo>
                  <a:close/>
                </a:path>
              </a:pathLst>
            </a:custGeom>
            <a:solidFill>
              <a:srgbClr val="FFFFFF"/>
            </a:solidFill>
            <a:ln w="9525" cap="sq">
              <a:solidFill>
                <a:srgbClr val="C7D4E2"/>
              </a:solidFill>
              <a:prstDash val="solid"/>
              <a:miter/>
            </a:ln>
          </p:spPr>
          <p:txBody>
            <a:bodyPr/>
            <a:lstStyle/>
            <a:p>
              <a:endParaRPr lang="en-US"/>
            </a:p>
          </p:txBody>
        </p:sp>
        <p:sp>
          <p:nvSpPr>
            <p:cNvPr id="10" name="TextBox 10"/>
            <p:cNvSpPr txBox="1"/>
            <p:nvPr/>
          </p:nvSpPr>
          <p:spPr>
            <a:xfrm>
              <a:off x="0" y="-38100"/>
              <a:ext cx="10795000" cy="2705100"/>
            </a:xfrm>
            <a:prstGeom prst="rect">
              <a:avLst/>
            </a:prstGeom>
          </p:spPr>
          <p:txBody>
            <a:bodyPr lIns="50800" tIns="50800" rIns="50800" bIns="50800" rtlCol="0" anchor="ctr"/>
            <a:lstStyle/>
            <a:p>
              <a:pPr algn="l">
                <a:lnSpc>
                  <a:spcPts val="1679"/>
                </a:lnSpc>
              </a:pPr>
              <a:endParaRPr/>
            </a:p>
          </p:txBody>
        </p:sp>
      </p:grpSp>
      <p:grpSp>
        <p:nvGrpSpPr>
          <p:cNvPr id="11" name="Group 11"/>
          <p:cNvGrpSpPr/>
          <p:nvPr/>
        </p:nvGrpSpPr>
        <p:grpSpPr>
          <a:xfrm>
            <a:off x="9239250" y="3262884"/>
            <a:ext cx="8096250" cy="2000250"/>
            <a:chOff x="0" y="0"/>
            <a:chExt cx="10795000" cy="2667000"/>
          </a:xfrm>
        </p:grpSpPr>
        <p:sp>
          <p:nvSpPr>
            <p:cNvPr id="12" name="Freeform 12"/>
            <p:cNvSpPr/>
            <p:nvPr/>
          </p:nvSpPr>
          <p:spPr>
            <a:xfrm>
              <a:off x="0" y="0"/>
              <a:ext cx="10795000" cy="2667000"/>
            </a:xfrm>
            <a:custGeom>
              <a:avLst/>
              <a:gdLst/>
              <a:ahLst/>
              <a:cxnLst/>
              <a:rect l="l" t="t" r="r" b="b"/>
              <a:pathLst>
                <a:path w="10795000" h="2667000">
                  <a:moveTo>
                    <a:pt x="0" y="0"/>
                  </a:moveTo>
                  <a:lnTo>
                    <a:pt x="10795000" y="0"/>
                  </a:lnTo>
                  <a:lnTo>
                    <a:pt x="10795000" y="2667000"/>
                  </a:lnTo>
                  <a:lnTo>
                    <a:pt x="0" y="2667000"/>
                  </a:lnTo>
                  <a:close/>
                </a:path>
              </a:pathLst>
            </a:custGeom>
            <a:solidFill>
              <a:srgbClr val="FFFFFF"/>
            </a:solidFill>
            <a:ln w="9525" cap="sq">
              <a:solidFill>
                <a:srgbClr val="C7D4E2"/>
              </a:solidFill>
              <a:prstDash val="solid"/>
              <a:miter/>
            </a:ln>
          </p:spPr>
          <p:txBody>
            <a:bodyPr/>
            <a:lstStyle/>
            <a:p>
              <a:endParaRPr lang="en-US"/>
            </a:p>
          </p:txBody>
        </p:sp>
        <p:sp>
          <p:nvSpPr>
            <p:cNvPr id="13" name="TextBox 13"/>
            <p:cNvSpPr txBox="1"/>
            <p:nvPr/>
          </p:nvSpPr>
          <p:spPr>
            <a:xfrm>
              <a:off x="0" y="-38100"/>
              <a:ext cx="10795000" cy="2705100"/>
            </a:xfrm>
            <a:prstGeom prst="rect">
              <a:avLst/>
            </a:prstGeom>
          </p:spPr>
          <p:txBody>
            <a:bodyPr lIns="50800" tIns="50800" rIns="50800" bIns="50800" rtlCol="0" anchor="ctr"/>
            <a:lstStyle/>
            <a:p>
              <a:pPr algn="l">
                <a:lnSpc>
                  <a:spcPts val="1679"/>
                </a:lnSpc>
              </a:pPr>
              <a:endParaRPr/>
            </a:p>
          </p:txBody>
        </p:sp>
      </p:grpSp>
      <p:grpSp>
        <p:nvGrpSpPr>
          <p:cNvPr id="14" name="Group 14"/>
          <p:cNvGrpSpPr/>
          <p:nvPr/>
        </p:nvGrpSpPr>
        <p:grpSpPr>
          <a:xfrm>
            <a:off x="800100" y="5644134"/>
            <a:ext cx="8096250" cy="2000250"/>
            <a:chOff x="0" y="0"/>
            <a:chExt cx="10795000" cy="2667000"/>
          </a:xfrm>
        </p:grpSpPr>
        <p:sp>
          <p:nvSpPr>
            <p:cNvPr id="15" name="Freeform 15"/>
            <p:cNvSpPr/>
            <p:nvPr/>
          </p:nvSpPr>
          <p:spPr>
            <a:xfrm>
              <a:off x="0" y="0"/>
              <a:ext cx="10795000" cy="2667000"/>
            </a:xfrm>
            <a:custGeom>
              <a:avLst/>
              <a:gdLst/>
              <a:ahLst/>
              <a:cxnLst/>
              <a:rect l="l" t="t" r="r" b="b"/>
              <a:pathLst>
                <a:path w="10795000" h="2667000">
                  <a:moveTo>
                    <a:pt x="0" y="0"/>
                  </a:moveTo>
                  <a:lnTo>
                    <a:pt x="10795000" y="0"/>
                  </a:lnTo>
                  <a:lnTo>
                    <a:pt x="10795000" y="2667000"/>
                  </a:lnTo>
                  <a:lnTo>
                    <a:pt x="0" y="2667000"/>
                  </a:lnTo>
                  <a:close/>
                </a:path>
              </a:pathLst>
            </a:custGeom>
            <a:solidFill>
              <a:srgbClr val="FFFFFF"/>
            </a:solidFill>
            <a:ln w="9525" cap="sq">
              <a:solidFill>
                <a:srgbClr val="C7D4E2"/>
              </a:solidFill>
              <a:prstDash val="solid"/>
              <a:miter/>
            </a:ln>
          </p:spPr>
          <p:txBody>
            <a:bodyPr/>
            <a:lstStyle/>
            <a:p>
              <a:endParaRPr lang="en-US"/>
            </a:p>
          </p:txBody>
        </p:sp>
        <p:sp>
          <p:nvSpPr>
            <p:cNvPr id="16" name="TextBox 16"/>
            <p:cNvSpPr txBox="1"/>
            <p:nvPr/>
          </p:nvSpPr>
          <p:spPr>
            <a:xfrm>
              <a:off x="0" y="-38100"/>
              <a:ext cx="10795000" cy="2705100"/>
            </a:xfrm>
            <a:prstGeom prst="rect">
              <a:avLst/>
            </a:prstGeom>
          </p:spPr>
          <p:txBody>
            <a:bodyPr lIns="50800" tIns="50800" rIns="50800" bIns="50800" rtlCol="0" anchor="ctr"/>
            <a:lstStyle/>
            <a:p>
              <a:pPr algn="l">
                <a:lnSpc>
                  <a:spcPts val="1679"/>
                </a:lnSpc>
              </a:pPr>
              <a:endParaRPr/>
            </a:p>
          </p:txBody>
        </p:sp>
      </p:grpSp>
      <p:grpSp>
        <p:nvGrpSpPr>
          <p:cNvPr id="17" name="Group 17"/>
          <p:cNvGrpSpPr/>
          <p:nvPr/>
        </p:nvGrpSpPr>
        <p:grpSpPr>
          <a:xfrm>
            <a:off x="9239250" y="5644134"/>
            <a:ext cx="8096250" cy="2000250"/>
            <a:chOff x="0" y="0"/>
            <a:chExt cx="10795000" cy="2667000"/>
          </a:xfrm>
        </p:grpSpPr>
        <p:sp>
          <p:nvSpPr>
            <p:cNvPr id="18" name="Freeform 18"/>
            <p:cNvSpPr/>
            <p:nvPr/>
          </p:nvSpPr>
          <p:spPr>
            <a:xfrm>
              <a:off x="0" y="0"/>
              <a:ext cx="10795000" cy="2667000"/>
            </a:xfrm>
            <a:custGeom>
              <a:avLst/>
              <a:gdLst/>
              <a:ahLst/>
              <a:cxnLst/>
              <a:rect l="l" t="t" r="r" b="b"/>
              <a:pathLst>
                <a:path w="10795000" h="2667000">
                  <a:moveTo>
                    <a:pt x="0" y="0"/>
                  </a:moveTo>
                  <a:lnTo>
                    <a:pt x="10795000" y="0"/>
                  </a:lnTo>
                  <a:lnTo>
                    <a:pt x="10795000" y="2667000"/>
                  </a:lnTo>
                  <a:lnTo>
                    <a:pt x="0" y="2667000"/>
                  </a:lnTo>
                  <a:close/>
                </a:path>
              </a:pathLst>
            </a:custGeom>
            <a:solidFill>
              <a:srgbClr val="FFFFFF"/>
            </a:solidFill>
            <a:ln w="9525" cap="sq">
              <a:solidFill>
                <a:srgbClr val="C7D4E2"/>
              </a:solidFill>
              <a:prstDash val="solid"/>
              <a:miter/>
            </a:ln>
          </p:spPr>
          <p:txBody>
            <a:bodyPr/>
            <a:lstStyle/>
            <a:p>
              <a:endParaRPr lang="en-US"/>
            </a:p>
          </p:txBody>
        </p:sp>
        <p:sp>
          <p:nvSpPr>
            <p:cNvPr id="19" name="TextBox 19"/>
            <p:cNvSpPr txBox="1"/>
            <p:nvPr/>
          </p:nvSpPr>
          <p:spPr>
            <a:xfrm>
              <a:off x="0" y="-38100"/>
              <a:ext cx="10795000" cy="2705100"/>
            </a:xfrm>
            <a:prstGeom prst="rect">
              <a:avLst/>
            </a:prstGeom>
          </p:spPr>
          <p:txBody>
            <a:bodyPr lIns="50800" tIns="50800" rIns="50800" bIns="50800" rtlCol="0" anchor="ctr"/>
            <a:lstStyle/>
            <a:p>
              <a:pPr algn="l">
                <a:lnSpc>
                  <a:spcPts val="1679"/>
                </a:lnSpc>
              </a:pPr>
              <a:endParaRPr/>
            </a:p>
          </p:txBody>
        </p:sp>
      </p:grpSp>
      <p:sp>
        <p:nvSpPr>
          <p:cNvPr id="20" name="TextBox 20"/>
          <p:cNvSpPr txBox="1"/>
          <p:nvPr/>
        </p:nvSpPr>
        <p:spPr>
          <a:xfrm>
            <a:off x="1066800" y="3529584"/>
            <a:ext cx="7562850" cy="266700"/>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01  COMPLETENESS</a:t>
            </a:r>
          </a:p>
        </p:txBody>
      </p:sp>
      <p:sp>
        <p:nvSpPr>
          <p:cNvPr id="21" name="TextBox 21"/>
          <p:cNvSpPr txBox="1"/>
          <p:nvPr/>
        </p:nvSpPr>
        <p:spPr>
          <a:xfrm>
            <a:off x="1066800" y="3986784"/>
            <a:ext cx="7562850" cy="540068"/>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0 explicit nulls. One implicit MCAR humidity dropout on 2011-03-10 (Record 69, hum = 0.0%) imputed to 63.0% via 7-day rolling median.</a:t>
            </a:r>
          </a:p>
        </p:txBody>
      </p:sp>
      <p:sp>
        <p:nvSpPr>
          <p:cNvPr id="22" name="TextBox 22"/>
          <p:cNvSpPr txBox="1"/>
          <p:nvPr/>
        </p:nvSpPr>
        <p:spPr>
          <a:xfrm>
            <a:off x="9505950" y="3529584"/>
            <a:ext cx="7562850" cy="266700"/>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02  VALIDITY</a:t>
            </a:r>
          </a:p>
        </p:txBody>
      </p:sp>
      <p:sp>
        <p:nvSpPr>
          <p:cNvPr id="23" name="TextBox 23"/>
          <p:cNvSpPr txBox="1"/>
          <p:nvPr/>
        </p:nvSpPr>
        <p:spPr>
          <a:xfrm>
            <a:off x="9505950" y="3986784"/>
            <a:ext cx="7562850" cy="263842"/>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Normalized features within [0,1]. Counts non-negative.</a:t>
            </a:r>
          </a:p>
        </p:txBody>
      </p:sp>
      <p:sp>
        <p:nvSpPr>
          <p:cNvPr id="24" name="TextBox 24"/>
          <p:cNvSpPr txBox="1"/>
          <p:nvPr/>
        </p:nvSpPr>
        <p:spPr>
          <a:xfrm>
            <a:off x="1066800" y="5910834"/>
            <a:ext cx="7562850" cy="266700"/>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03  CONSISTENCY</a:t>
            </a:r>
          </a:p>
        </p:txBody>
      </p:sp>
      <p:sp>
        <p:nvSpPr>
          <p:cNvPr id="25" name="TextBox 25"/>
          <p:cNvSpPr txBox="1"/>
          <p:nvPr/>
        </p:nvSpPr>
        <p:spPr>
          <a:xfrm>
            <a:off x="1066800" y="6368034"/>
            <a:ext cx="7562850" cy="263842"/>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casual + registered = cnt (0 mismatches). No calendar gaps.</a:t>
            </a:r>
          </a:p>
        </p:txBody>
      </p:sp>
      <p:sp>
        <p:nvSpPr>
          <p:cNvPr id="26" name="TextBox 26"/>
          <p:cNvSpPr txBox="1"/>
          <p:nvPr/>
        </p:nvSpPr>
        <p:spPr>
          <a:xfrm>
            <a:off x="9505950" y="5910834"/>
            <a:ext cx="7562850" cy="266700"/>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04  UNIQUENESS</a:t>
            </a:r>
          </a:p>
        </p:txBody>
      </p:sp>
      <p:sp>
        <p:nvSpPr>
          <p:cNvPr id="27" name="TextBox 27"/>
          <p:cNvSpPr txBox="1"/>
          <p:nvPr/>
        </p:nvSpPr>
        <p:spPr>
          <a:xfrm>
            <a:off x="9505950" y="6368034"/>
            <a:ext cx="7562850" cy="263842"/>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No duplicates. Unique instant key.</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978789"/>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Daily demand baseline: commuters dominate, weather defines the ceiling</a:t>
            </a:r>
          </a:p>
        </p:txBody>
      </p:sp>
      <p:sp>
        <p:nvSpPr>
          <p:cNvPr id="3" name="TextBox 3"/>
          <p:cNvSpPr txBox="1"/>
          <p:nvPr/>
        </p:nvSpPr>
        <p:spPr>
          <a:xfrm>
            <a:off x="800100" y="1702689"/>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Problem 1 pre-summary · day.csv · 731 daily observations</a:t>
            </a:r>
          </a:p>
        </p:txBody>
      </p:sp>
      <p:grpSp>
        <p:nvGrpSpPr>
          <p:cNvPr id="4" name="Group 4"/>
          <p:cNvGrpSpPr/>
          <p:nvPr/>
        </p:nvGrpSpPr>
        <p:grpSpPr>
          <a:xfrm>
            <a:off x="800100" y="2224659"/>
            <a:ext cx="16687800" cy="723900"/>
            <a:chOff x="0" y="0"/>
            <a:chExt cx="22250400" cy="965200"/>
          </a:xfrm>
        </p:grpSpPr>
        <p:sp>
          <p:nvSpPr>
            <p:cNvPr id="5" name="Freeform 5"/>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0B1F3A"/>
            </a:solidFill>
            <a:ln cap="sq">
              <a:noFill/>
              <a:prstDash val="solid"/>
              <a:miter/>
            </a:ln>
          </p:spPr>
          <p:txBody>
            <a:bodyPr/>
            <a:lstStyle/>
            <a:p>
              <a:endParaRPr lang="en-US"/>
            </a:p>
          </p:txBody>
        </p:sp>
        <p:sp>
          <p:nvSpPr>
            <p:cNvPr id="6" name="TextBox 6"/>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7" name="Group 7"/>
          <p:cNvGrpSpPr/>
          <p:nvPr/>
        </p:nvGrpSpPr>
        <p:grpSpPr>
          <a:xfrm>
            <a:off x="800100" y="3005709"/>
            <a:ext cx="16687800" cy="723900"/>
            <a:chOff x="0" y="0"/>
            <a:chExt cx="22250400" cy="965200"/>
          </a:xfrm>
        </p:grpSpPr>
        <p:sp>
          <p:nvSpPr>
            <p:cNvPr id="8" name="Freeform 8"/>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FFFFFF"/>
            </a:solidFill>
            <a:ln cap="sq">
              <a:noFill/>
              <a:prstDash val="solid"/>
              <a:miter/>
            </a:ln>
          </p:spPr>
          <p:txBody>
            <a:bodyPr/>
            <a:lstStyle/>
            <a:p>
              <a:endParaRPr lang="en-US"/>
            </a:p>
          </p:txBody>
        </p:sp>
        <p:sp>
          <p:nvSpPr>
            <p:cNvPr id="9" name="TextBox 9"/>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800100" y="3786759"/>
            <a:ext cx="16687800" cy="723900"/>
            <a:chOff x="0" y="0"/>
            <a:chExt cx="22250400" cy="965200"/>
          </a:xfrm>
        </p:grpSpPr>
        <p:sp>
          <p:nvSpPr>
            <p:cNvPr id="11" name="Freeform 11"/>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DCECF7"/>
            </a:solidFill>
            <a:ln cap="sq">
              <a:noFill/>
              <a:prstDash val="solid"/>
              <a:miter/>
            </a:ln>
          </p:spPr>
          <p:txBody>
            <a:bodyPr/>
            <a:lstStyle/>
            <a:p>
              <a:endParaRPr lang="en-US"/>
            </a:p>
          </p:txBody>
        </p:sp>
        <p:sp>
          <p:nvSpPr>
            <p:cNvPr id="12" name="TextBox 12"/>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800100" y="4567809"/>
            <a:ext cx="16687800" cy="723900"/>
            <a:chOff x="0" y="0"/>
            <a:chExt cx="22250400" cy="965200"/>
          </a:xfrm>
        </p:grpSpPr>
        <p:sp>
          <p:nvSpPr>
            <p:cNvPr id="14" name="Freeform 14"/>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FFFFFF"/>
            </a:solidFill>
            <a:ln cap="sq">
              <a:noFill/>
              <a:prstDash val="solid"/>
              <a:miter/>
            </a:ln>
          </p:spPr>
          <p:txBody>
            <a:bodyPr/>
            <a:lstStyle/>
            <a:p>
              <a:endParaRPr lang="en-US"/>
            </a:p>
          </p:txBody>
        </p:sp>
        <p:sp>
          <p:nvSpPr>
            <p:cNvPr id="15" name="TextBox 15"/>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16" name="Group 16"/>
          <p:cNvGrpSpPr/>
          <p:nvPr/>
        </p:nvGrpSpPr>
        <p:grpSpPr>
          <a:xfrm>
            <a:off x="800100" y="5348859"/>
            <a:ext cx="16687800" cy="723900"/>
            <a:chOff x="0" y="0"/>
            <a:chExt cx="22250400" cy="965200"/>
          </a:xfrm>
        </p:grpSpPr>
        <p:sp>
          <p:nvSpPr>
            <p:cNvPr id="17" name="Freeform 17"/>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DCECF7"/>
            </a:solidFill>
            <a:ln cap="sq">
              <a:noFill/>
              <a:prstDash val="solid"/>
              <a:miter/>
            </a:ln>
          </p:spPr>
          <p:txBody>
            <a:bodyPr/>
            <a:lstStyle/>
            <a:p>
              <a:endParaRPr lang="en-US"/>
            </a:p>
          </p:txBody>
        </p:sp>
        <p:sp>
          <p:nvSpPr>
            <p:cNvPr id="18" name="TextBox 18"/>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19" name="Group 19"/>
          <p:cNvGrpSpPr/>
          <p:nvPr/>
        </p:nvGrpSpPr>
        <p:grpSpPr>
          <a:xfrm>
            <a:off x="800100" y="6129909"/>
            <a:ext cx="16687800" cy="723900"/>
            <a:chOff x="0" y="0"/>
            <a:chExt cx="22250400" cy="965200"/>
          </a:xfrm>
        </p:grpSpPr>
        <p:sp>
          <p:nvSpPr>
            <p:cNvPr id="20" name="Freeform 20"/>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FFFFFF"/>
            </a:solidFill>
            <a:ln cap="sq">
              <a:noFill/>
              <a:prstDash val="solid"/>
              <a:miter/>
            </a:ln>
          </p:spPr>
          <p:txBody>
            <a:bodyPr/>
            <a:lstStyle/>
            <a:p>
              <a:endParaRPr lang="en-US"/>
            </a:p>
          </p:txBody>
        </p:sp>
        <p:sp>
          <p:nvSpPr>
            <p:cNvPr id="21" name="TextBox 21"/>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grpSp>
        <p:nvGrpSpPr>
          <p:cNvPr id="22" name="Group 22"/>
          <p:cNvGrpSpPr/>
          <p:nvPr/>
        </p:nvGrpSpPr>
        <p:grpSpPr>
          <a:xfrm>
            <a:off x="800100" y="6910959"/>
            <a:ext cx="16687800" cy="723900"/>
            <a:chOff x="0" y="0"/>
            <a:chExt cx="22250400" cy="965200"/>
          </a:xfrm>
        </p:grpSpPr>
        <p:sp>
          <p:nvSpPr>
            <p:cNvPr id="23" name="Freeform 23"/>
            <p:cNvSpPr/>
            <p:nvPr/>
          </p:nvSpPr>
          <p:spPr>
            <a:xfrm>
              <a:off x="0" y="0"/>
              <a:ext cx="22250400" cy="965200"/>
            </a:xfrm>
            <a:custGeom>
              <a:avLst/>
              <a:gdLst/>
              <a:ahLst/>
              <a:cxnLst/>
              <a:rect l="l" t="t" r="r" b="b"/>
              <a:pathLst>
                <a:path w="22250400" h="965200">
                  <a:moveTo>
                    <a:pt x="0" y="0"/>
                  </a:moveTo>
                  <a:lnTo>
                    <a:pt x="22250400" y="0"/>
                  </a:lnTo>
                  <a:lnTo>
                    <a:pt x="22250400" y="965200"/>
                  </a:lnTo>
                  <a:lnTo>
                    <a:pt x="0" y="965200"/>
                  </a:lnTo>
                  <a:close/>
                </a:path>
              </a:pathLst>
            </a:custGeom>
            <a:solidFill>
              <a:srgbClr val="DCECF7"/>
            </a:solidFill>
            <a:ln cap="sq">
              <a:noFill/>
              <a:prstDash val="solid"/>
              <a:miter/>
            </a:ln>
          </p:spPr>
          <p:txBody>
            <a:bodyPr/>
            <a:lstStyle/>
            <a:p>
              <a:endParaRPr lang="en-US"/>
            </a:p>
          </p:txBody>
        </p:sp>
        <p:sp>
          <p:nvSpPr>
            <p:cNvPr id="24" name="TextBox 24"/>
            <p:cNvSpPr txBox="1"/>
            <p:nvPr/>
          </p:nvSpPr>
          <p:spPr>
            <a:xfrm>
              <a:off x="0" y="-38100"/>
              <a:ext cx="22250400" cy="1003300"/>
            </a:xfrm>
            <a:prstGeom prst="rect">
              <a:avLst/>
            </a:prstGeom>
          </p:spPr>
          <p:txBody>
            <a:bodyPr lIns="50800" tIns="50800" rIns="50800" bIns="50800" rtlCol="0" anchor="ctr"/>
            <a:lstStyle/>
            <a:p>
              <a:pPr algn="l">
                <a:lnSpc>
                  <a:spcPts val="1679"/>
                </a:lnSpc>
              </a:pPr>
              <a:endParaRPr/>
            </a:p>
          </p:txBody>
        </p:sp>
      </p:grpSp>
      <p:sp>
        <p:nvSpPr>
          <p:cNvPr id="25" name="TextBox 25"/>
          <p:cNvSpPr txBox="1"/>
          <p:nvPr/>
        </p:nvSpPr>
        <p:spPr>
          <a:xfrm>
            <a:off x="914400" y="2367534"/>
            <a:ext cx="283845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METRIC / REGIME</a:t>
            </a:r>
          </a:p>
        </p:txBody>
      </p:sp>
      <p:sp>
        <p:nvSpPr>
          <p:cNvPr id="26" name="TextBox 26"/>
          <p:cNvSpPr txBox="1"/>
          <p:nvPr/>
        </p:nvSpPr>
        <p:spPr>
          <a:xfrm>
            <a:off x="4057650" y="2367534"/>
            <a:ext cx="74295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N</a:t>
            </a:r>
          </a:p>
        </p:txBody>
      </p:sp>
      <p:sp>
        <p:nvSpPr>
          <p:cNvPr id="27" name="TextBox 27"/>
          <p:cNvSpPr txBox="1"/>
          <p:nvPr/>
        </p:nvSpPr>
        <p:spPr>
          <a:xfrm>
            <a:off x="5105400" y="2367534"/>
            <a:ext cx="131445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MEAN</a:t>
            </a:r>
          </a:p>
        </p:txBody>
      </p:sp>
      <p:sp>
        <p:nvSpPr>
          <p:cNvPr id="28" name="TextBox 28"/>
          <p:cNvSpPr txBox="1"/>
          <p:nvPr/>
        </p:nvSpPr>
        <p:spPr>
          <a:xfrm>
            <a:off x="6724650" y="2367534"/>
            <a:ext cx="160020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MEDIAN</a:t>
            </a:r>
          </a:p>
        </p:txBody>
      </p:sp>
      <p:sp>
        <p:nvSpPr>
          <p:cNvPr id="29" name="TextBox 29"/>
          <p:cNvSpPr txBox="1"/>
          <p:nvPr/>
        </p:nvSpPr>
        <p:spPr>
          <a:xfrm>
            <a:off x="8629650" y="2367534"/>
            <a:ext cx="217170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MIN–MAX</a:t>
            </a:r>
          </a:p>
        </p:txBody>
      </p:sp>
      <p:sp>
        <p:nvSpPr>
          <p:cNvPr id="30" name="TextBox 30"/>
          <p:cNvSpPr txBox="1"/>
          <p:nvPr/>
        </p:nvSpPr>
        <p:spPr>
          <a:xfrm>
            <a:off x="11201400" y="2367534"/>
            <a:ext cx="7029450" cy="240030"/>
          </a:xfrm>
          <a:prstGeom prst="rect">
            <a:avLst/>
          </a:prstGeom>
        </p:spPr>
        <p:txBody>
          <a:bodyPr lIns="0" tIns="0" rIns="0" bIns="0" rtlCol="0" anchor="t">
            <a:spAutoFit/>
          </a:bodyPr>
          <a:lstStyle/>
          <a:p>
            <a:pPr algn="l">
              <a:lnSpc>
                <a:spcPts val="1995"/>
              </a:lnSpc>
            </a:pPr>
            <a:r>
              <a:rPr lang="en-US" sz="1425" b="1">
                <a:solidFill>
                  <a:srgbClr val="FFFFFF"/>
                </a:solidFill>
                <a:latin typeface="Montserrat Bold"/>
                <a:ea typeface="Montserrat Bold"/>
                <a:cs typeface="Montserrat Bold"/>
                <a:sym typeface="Montserrat Bold"/>
              </a:rPr>
              <a:t>SD / PATTERN</a:t>
            </a:r>
          </a:p>
        </p:txBody>
      </p:sp>
      <p:sp>
        <p:nvSpPr>
          <p:cNvPr id="31" name="TextBox 31"/>
          <p:cNvSpPr txBox="1"/>
          <p:nvPr/>
        </p:nvSpPr>
        <p:spPr>
          <a:xfrm>
            <a:off x="914400" y="313905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Total cnt</a:t>
            </a:r>
          </a:p>
        </p:txBody>
      </p:sp>
      <p:sp>
        <p:nvSpPr>
          <p:cNvPr id="32" name="TextBox 32"/>
          <p:cNvSpPr txBox="1"/>
          <p:nvPr/>
        </p:nvSpPr>
        <p:spPr>
          <a:xfrm>
            <a:off x="4057650" y="313905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731</a:t>
            </a:r>
          </a:p>
        </p:txBody>
      </p:sp>
      <p:sp>
        <p:nvSpPr>
          <p:cNvPr id="33" name="TextBox 33"/>
          <p:cNvSpPr txBox="1"/>
          <p:nvPr/>
        </p:nvSpPr>
        <p:spPr>
          <a:xfrm>
            <a:off x="5105400" y="313905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4,504.3</a:t>
            </a:r>
          </a:p>
        </p:txBody>
      </p:sp>
      <p:sp>
        <p:nvSpPr>
          <p:cNvPr id="34" name="TextBox 34"/>
          <p:cNvSpPr txBox="1"/>
          <p:nvPr/>
        </p:nvSpPr>
        <p:spPr>
          <a:xfrm>
            <a:off x="6724650" y="313905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4,548.0</a:t>
            </a:r>
          </a:p>
        </p:txBody>
      </p:sp>
      <p:sp>
        <p:nvSpPr>
          <p:cNvPr id="35" name="TextBox 35"/>
          <p:cNvSpPr txBox="1"/>
          <p:nvPr/>
        </p:nvSpPr>
        <p:spPr>
          <a:xfrm>
            <a:off x="8629650" y="313905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22–8,714</a:t>
            </a:r>
          </a:p>
        </p:txBody>
      </p:sp>
      <p:sp>
        <p:nvSpPr>
          <p:cNvPr id="36" name="TextBox 36"/>
          <p:cNvSpPr txBox="1"/>
          <p:nvPr/>
        </p:nvSpPr>
        <p:spPr>
          <a:xfrm>
            <a:off x="11201400" y="313905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1,937.2 (+64.9% YoY surge)</a:t>
            </a:r>
          </a:p>
        </p:txBody>
      </p:sp>
      <p:sp>
        <p:nvSpPr>
          <p:cNvPr id="37" name="TextBox 37"/>
          <p:cNvSpPr txBox="1"/>
          <p:nvPr/>
        </p:nvSpPr>
        <p:spPr>
          <a:xfrm>
            <a:off x="914400" y="392010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Registered</a:t>
            </a:r>
          </a:p>
        </p:txBody>
      </p:sp>
      <p:sp>
        <p:nvSpPr>
          <p:cNvPr id="38" name="TextBox 38"/>
          <p:cNvSpPr txBox="1"/>
          <p:nvPr/>
        </p:nvSpPr>
        <p:spPr>
          <a:xfrm>
            <a:off x="4057650" y="392010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731</a:t>
            </a:r>
          </a:p>
        </p:txBody>
      </p:sp>
      <p:sp>
        <p:nvSpPr>
          <p:cNvPr id="39" name="TextBox 39"/>
          <p:cNvSpPr txBox="1"/>
          <p:nvPr/>
        </p:nvSpPr>
        <p:spPr>
          <a:xfrm>
            <a:off x="5105400" y="392010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3,656.2</a:t>
            </a:r>
          </a:p>
        </p:txBody>
      </p:sp>
      <p:sp>
        <p:nvSpPr>
          <p:cNvPr id="40" name="TextBox 40"/>
          <p:cNvSpPr txBox="1"/>
          <p:nvPr/>
        </p:nvSpPr>
        <p:spPr>
          <a:xfrm>
            <a:off x="6724650" y="392010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3,662.0</a:t>
            </a:r>
          </a:p>
        </p:txBody>
      </p:sp>
      <p:sp>
        <p:nvSpPr>
          <p:cNvPr id="41" name="TextBox 41"/>
          <p:cNvSpPr txBox="1"/>
          <p:nvPr/>
        </p:nvSpPr>
        <p:spPr>
          <a:xfrm>
            <a:off x="8629650" y="392010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20–6,946</a:t>
            </a:r>
          </a:p>
        </p:txBody>
      </p:sp>
      <p:sp>
        <p:nvSpPr>
          <p:cNvPr id="42" name="TextBox 42"/>
          <p:cNvSpPr txBox="1"/>
          <p:nvPr/>
        </p:nvSpPr>
        <p:spPr>
          <a:xfrm>
            <a:off x="11201400" y="392010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1,560.3 (81.2% majority cohort)</a:t>
            </a:r>
          </a:p>
        </p:txBody>
      </p:sp>
      <p:sp>
        <p:nvSpPr>
          <p:cNvPr id="43" name="TextBox 43"/>
          <p:cNvSpPr txBox="1"/>
          <p:nvPr/>
        </p:nvSpPr>
        <p:spPr>
          <a:xfrm>
            <a:off x="914400" y="470115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Casual</a:t>
            </a:r>
          </a:p>
        </p:txBody>
      </p:sp>
      <p:sp>
        <p:nvSpPr>
          <p:cNvPr id="44" name="TextBox 44"/>
          <p:cNvSpPr txBox="1"/>
          <p:nvPr/>
        </p:nvSpPr>
        <p:spPr>
          <a:xfrm>
            <a:off x="4057650" y="470115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731</a:t>
            </a:r>
          </a:p>
        </p:txBody>
      </p:sp>
      <p:sp>
        <p:nvSpPr>
          <p:cNvPr id="45" name="TextBox 45"/>
          <p:cNvSpPr txBox="1"/>
          <p:nvPr/>
        </p:nvSpPr>
        <p:spPr>
          <a:xfrm>
            <a:off x="5105400" y="470115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848.2</a:t>
            </a:r>
          </a:p>
        </p:txBody>
      </p:sp>
      <p:sp>
        <p:nvSpPr>
          <p:cNvPr id="46" name="TextBox 46"/>
          <p:cNvSpPr txBox="1"/>
          <p:nvPr/>
        </p:nvSpPr>
        <p:spPr>
          <a:xfrm>
            <a:off x="6724650" y="470115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713.0</a:t>
            </a:r>
          </a:p>
        </p:txBody>
      </p:sp>
      <p:sp>
        <p:nvSpPr>
          <p:cNvPr id="47" name="TextBox 47"/>
          <p:cNvSpPr txBox="1"/>
          <p:nvPr/>
        </p:nvSpPr>
        <p:spPr>
          <a:xfrm>
            <a:off x="8629650" y="470115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2–3,410</a:t>
            </a:r>
          </a:p>
        </p:txBody>
      </p:sp>
      <p:sp>
        <p:nvSpPr>
          <p:cNvPr id="48" name="TextBox 48"/>
          <p:cNvSpPr txBox="1"/>
          <p:nvPr/>
        </p:nvSpPr>
        <p:spPr>
          <a:xfrm>
            <a:off x="11201400" y="470115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686.6 (Warm-weather lift &gt;20°C)</a:t>
            </a:r>
          </a:p>
        </p:txBody>
      </p:sp>
      <p:sp>
        <p:nvSpPr>
          <p:cNvPr id="49" name="TextBox 49"/>
          <p:cNvSpPr txBox="1"/>
          <p:nvPr/>
        </p:nvSpPr>
        <p:spPr>
          <a:xfrm>
            <a:off x="914400" y="548220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Clear/Few Clouds</a:t>
            </a:r>
          </a:p>
        </p:txBody>
      </p:sp>
      <p:sp>
        <p:nvSpPr>
          <p:cNvPr id="50" name="TextBox 50"/>
          <p:cNvSpPr txBox="1"/>
          <p:nvPr/>
        </p:nvSpPr>
        <p:spPr>
          <a:xfrm>
            <a:off x="4057650" y="548220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463</a:t>
            </a:r>
          </a:p>
        </p:txBody>
      </p:sp>
      <p:sp>
        <p:nvSpPr>
          <p:cNvPr id="51" name="TextBox 51"/>
          <p:cNvSpPr txBox="1"/>
          <p:nvPr/>
        </p:nvSpPr>
        <p:spPr>
          <a:xfrm>
            <a:off x="5105400" y="548220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4,876.8</a:t>
            </a:r>
          </a:p>
        </p:txBody>
      </p:sp>
      <p:sp>
        <p:nvSpPr>
          <p:cNvPr id="52" name="TextBox 52"/>
          <p:cNvSpPr txBox="1"/>
          <p:nvPr/>
        </p:nvSpPr>
        <p:spPr>
          <a:xfrm>
            <a:off x="6724650" y="548220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4,844.0</a:t>
            </a:r>
          </a:p>
        </p:txBody>
      </p:sp>
      <p:sp>
        <p:nvSpPr>
          <p:cNvPr id="53" name="TextBox 53"/>
          <p:cNvSpPr txBox="1"/>
          <p:nvPr/>
        </p:nvSpPr>
        <p:spPr>
          <a:xfrm>
            <a:off x="8629650" y="548220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431–8,714</a:t>
            </a:r>
          </a:p>
        </p:txBody>
      </p:sp>
      <p:sp>
        <p:nvSpPr>
          <p:cNvPr id="54" name="TextBox 54"/>
          <p:cNvSpPr txBox="1"/>
          <p:nvPr/>
        </p:nvSpPr>
        <p:spPr>
          <a:xfrm>
            <a:off x="11201400" y="548220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1,879.5 (Broad symmetric range)</a:t>
            </a:r>
          </a:p>
        </p:txBody>
      </p:sp>
      <p:sp>
        <p:nvSpPr>
          <p:cNvPr id="55" name="TextBox 55"/>
          <p:cNvSpPr txBox="1"/>
          <p:nvPr/>
        </p:nvSpPr>
        <p:spPr>
          <a:xfrm>
            <a:off x="914400" y="626325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Mist/Cloudy</a:t>
            </a:r>
          </a:p>
        </p:txBody>
      </p:sp>
      <p:sp>
        <p:nvSpPr>
          <p:cNvPr id="56" name="TextBox 56"/>
          <p:cNvSpPr txBox="1"/>
          <p:nvPr/>
        </p:nvSpPr>
        <p:spPr>
          <a:xfrm>
            <a:off x="4057650" y="626325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247</a:t>
            </a:r>
          </a:p>
        </p:txBody>
      </p:sp>
      <p:sp>
        <p:nvSpPr>
          <p:cNvPr id="57" name="TextBox 57"/>
          <p:cNvSpPr txBox="1"/>
          <p:nvPr/>
        </p:nvSpPr>
        <p:spPr>
          <a:xfrm>
            <a:off x="5105400" y="626325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4,035.9</a:t>
            </a:r>
          </a:p>
        </p:txBody>
      </p:sp>
      <p:sp>
        <p:nvSpPr>
          <p:cNvPr id="58" name="TextBox 58"/>
          <p:cNvSpPr txBox="1"/>
          <p:nvPr/>
        </p:nvSpPr>
        <p:spPr>
          <a:xfrm>
            <a:off x="6724650" y="626325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4,043.0</a:t>
            </a:r>
          </a:p>
        </p:txBody>
      </p:sp>
      <p:sp>
        <p:nvSpPr>
          <p:cNvPr id="59" name="TextBox 59"/>
          <p:cNvSpPr txBox="1"/>
          <p:nvPr/>
        </p:nvSpPr>
        <p:spPr>
          <a:xfrm>
            <a:off x="8629650" y="626325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605–8,362</a:t>
            </a:r>
          </a:p>
        </p:txBody>
      </p:sp>
      <p:sp>
        <p:nvSpPr>
          <p:cNvPr id="60" name="TextBox 60"/>
          <p:cNvSpPr txBox="1"/>
          <p:nvPr/>
        </p:nvSpPr>
        <p:spPr>
          <a:xfrm>
            <a:off x="11201400" y="626325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1,809.1 (Resilient median)</a:t>
            </a:r>
          </a:p>
        </p:txBody>
      </p:sp>
      <p:sp>
        <p:nvSpPr>
          <p:cNvPr id="61" name="TextBox 61"/>
          <p:cNvSpPr txBox="1"/>
          <p:nvPr/>
        </p:nvSpPr>
        <p:spPr>
          <a:xfrm>
            <a:off x="914400" y="7044309"/>
            <a:ext cx="2838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Light Snow/Rain</a:t>
            </a:r>
          </a:p>
        </p:txBody>
      </p:sp>
      <p:sp>
        <p:nvSpPr>
          <p:cNvPr id="62" name="TextBox 62"/>
          <p:cNvSpPr txBox="1"/>
          <p:nvPr/>
        </p:nvSpPr>
        <p:spPr>
          <a:xfrm>
            <a:off x="4057650" y="7044309"/>
            <a:ext cx="7429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21</a:t>
            </a:r>
          </a:p>
        </p:txBody>
      </p:sp>
      <p:sp>
        <p:nvSpPr>
          <p:cNvPr id="63" name="TextBox 63"/>
          <p:cNvSpPr txBox="1"/>
          <p:nvPr/>
        </p:nvSpPr>
        <p:spPr>
          <a:xfrm>
            <a:off x="5105400" y="7044309"/>
            <a:ext cx="1314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1,803.3</a:t>
            </a:r>
          </a:p>
        </p:txBody>
      </p:sp>
      <p:sp>
        <p:nvSpPr>
          <p:cNvPr id="64" name="TextBox 64"/>
          <p:cNvSpPr txBox="1"/>
          <p:nvPr/>
        </p:nvSpPr>
        <p:spPr>
          <a:xfrm>
            <a:off x="6724650" y="7044309"/>
            <a:ext cx="16002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1,817.0</a:t>
            </a:r>
          </a:p>
        </p:txBody>
      </p:sp>
      <p:sp>
        <p:nvSpPr>
          <p:cNvPr id="65" name="TextBox 65"/>
          <p:cNvSpPr txBox="1"/>
          <p:nvPr/>
        </p:nvSpPr>
        <p:spPr>
          <a:xfrm>
            <a:off x="8629650" y="7044309"/>
            <a:ext cx="217170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22–4,639</a:t>
            </a:r>
          </a:p>
        </p:txBody>
      </p:sp>
      <p:sp>
        <p:nvSpPr>
          <p:cNvPr id="66" name="TextBox 66"/>
          <p:cNvSpPr txBox="1"/>
          <p:nvPr/>
        </p:nvSpPr>
        <p:spPr>
          <a:xfrm>
            <a:off x="11201400" y="7044309"/>
            <a:ext cx="7029450" cy="266700"/>
          </a:xfrm>
          <a:prstGeom prst="rect">
            <a:avLst/>
          </a:prstGeom>
        </p:spPr>
        <p:txBody>
          <a:bodyPr lIns="0" tIns="0" rIns="0" bIns="0" rtlCol="0" anchor="t">
            <a:spAutoFit/>
          </a:bodyPr>
          <a:lstStyle/>
          <a:p>
            <a:pPr algn="l">
              <a:lnSpc>
                <a:spcPts val="2100"/>
              </a:lnSpc>
            </a:pPr>
            <a:r>
              <a:rPr lang="en-US" sz="1500">
                <a:solidFill>
                  <a:srgbClr val="14243A"/>
                </a:solidFill>
                <a:latin typeface="DM Sans"/>
                <a:ea typeface="DM Sans"/>
                <a:cs typeface="DM Sans"/>
                <a:sym typeface="DM Sans"/>
              </a:rPr>
              <a:t>1,240.3 (-63.0% hard ceiling)</a:t>
            </a:r>
          </a:p>
        </p:txBody>
      </p:sp>
      <p:sp>
        <p:nvSpPr>
          <p:cNvPr id="67" name="TextBox 67"/>
          <p:cNvSpPr txBox="1"/>
          <p:nvPr/>
        </p:nvSpPr>
        <p:spPr>
          <a:xfrm>
            <a:off x="800100" y="7958709"/>
            <a:ext cx="16687800" cy="246507"/>
          </a:xfrm>
          <a:prstGeom prst="rect">
            <a:avLst/>
          </a:prstGeom>
        </p:spPr>
        <p:txBody>
          <a:bodyPr lIns="0" tIns="0" rIns="0" bIns="0" rtlCol="0" anchor="t">
            <a:spAutoFit/>
          </a:bodyPr>
          <a:lstStyle/>
          <a:p>
            <a:pPr algn="l">
              <a:lnSpc>
                <a:spcPts val="1944"/>
              </a:lnSpc>
            </a:pPr>
            <a:r>
              <a:rPr lang="en-US" sz="1800" b="1">
                <a:solidFill>
                  <a:srgbClr val="14243A"/>
                </a:solidFill>
                <a:latin typeface="Montserrat Bold"/>
                <a:ea typeface="Montserrat Bold"/>
                <a:cs typeface="Montserrat Bold"/>
                <a:sym typeface="Montserrat Bold"/>
              </a:rPr>
              <a:t>ROADMAP  →  Fig 1 weather regimes   ·   Fig 2 cohort elasticity   ·   Fig 3 adoption trajectory</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500137"/>
          </a:xfrm>
          <a:prstGeom prst="rect">
            <a:avLst/>
          </a:prstGeom>
        </p:spPr>
        <p:txBody>
          <a:bodyPr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Rain and Snow Put a Hard Limit on Daily Bike Rides</a:t>
            </a:r>
          </a:p>
        </p:txBody>
      </p:sp>
      <p:sp>
        <p:nvSpPr>
          <p:cNvPr id="4" name="Freeform 4"/>
          <p:cNvSpPr/>
          <p:nvPr/>
        </p:nvSpPr>
        <p:spPr>
          <a:xfrm>
            <a:off x="800100" y="2224659"/>
            <a:ext cx="12001500" cy="7143750"/>
          </a:xfrm>
          <a:custGeom>
            <a:avLst/>
            <a:gdLst/>
            <a:ahLst/>
            <a:cxnLst/>
            <a:rect l="l" t="t" r="r" b="b"/>
            <a:pathLst>
              <a:path w="12001500" h="7143750">
                <a:moveTo>
                  <a:pt x="0" y="0"/>
                </a:moveTo>
                <a:lnTo>
                  <a:pt x="12001500" y="0"/>
                </a:lnTo>
                <a:lnTo>
                  <a:pt x="12001500" y="7143750"/>
                </a:lnTo>
                <a:lnTo>
                  <a:pt x="0" y="7143750"/>
                </a:lnTo>
                <a:lnTo>
                  <a:pt x="0" y="0"/>
                </a:lnTo>
                <a:close/>
              </a:path>
            </a:pathLst>
          </a:custGeom>
          <a:blipFill>
            <a:blip r:embed="rId3">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3049250" y="2224659"/>
            <a:ext cx="4438650" cy="7143750"/>
            <a:chOff x="0" y="0"/>
            <a:chExt cx="5918200" cy="9525000"/>
          </a:xfrm>
        </p:grpSpPr>
        <p:sp>
          <p:nvSpPr>
            <p:cNvPr id="6" name="Freeform 6"/>
            <p:cNvSpPr/>
            <p:nvPr/>
          </p:nvSpPr>
          <p:spPr>
            <a:xfrm>
              <a:off x="0" y="0"/>
              <a:ext cx="5918200" cy="9525000"/>
            </a:xfrm>
            <a:custGeom>
              <a:avLst/>
              <a:gdLst/>
              <a:ahLst/>
              <a:cxnLst/>
              <a:rect l="l" t="t" r="r" b="b"/>
              <a:pathLst>
                <a:path w="5918200" h="9525000">
                  <a:moveTo>
                    <a:pt x="0" y="0"/>
                  </a:moveTo>
                  <a:lnTo>
                    <a:pt x="5918200" y="0"/>
                  </a:lnTo>
                  <a:lnTo>
                    <a:pt x="5918200" y="9525000"/>
                  </a:lnTo>
                  <a:lnTo>
                    <a:pt x="0" y="9525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918200" cy="9563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335000" y="2243709"/>
            <a:ext cx="4095750" cy="235839"/>
          </a:xfrm>
          <a:prstGeom prst="rect">
            <a:avLst/>
          </a:prstGeom>
        </p:spPr>
        <p:txBody>
          <a:bodyPr lIns="0" tIns="0" rIns="0" bIns="0" rtlCol="0" anchor="t">
            <a:spAutoFit/>
          </a:bodyPr>
          <a:lstStyle/>
          <a:p>
            <a:pPr algn="l">
              <a:lnSpc>
                <a:spcPts val="1863"/>
              </a:lnSpc>
            </a:pPr>
            <a:r>
              <a:rPr lang="en-US" sz="1725" b="1">
                <a:solidFill>
                  <a:srgbClr val="14243A"/>
                </a:solidFill>
                <a:latin typeface="Montserrat Bold"/>
                <a:ea typeface="Montserrat Bold"/>
                <a:cs typeface="Montserrat Bold"/>
                <a:sym typeface="Montserrat Bold"/>
              </a:rPr>
              <a:t>DISTRIBUTIONAL EVIDENCE</a:t>
            </a:r>
          </a:p>
        </p:txBody>
      </p:sp>
      <p:sp>
        <p:nvSpPr>
          <p:cNvPr id="9" name="TextBox 9"/>
          <p:cNvSpPr txBox="1"/>
          <p:nvPr/>
        </p:nvSpPr>
        <p:spPr>
          <a:xfrm>
            <a:off x="13335000" y="2758059"/>
            <a:ext cx="4095750" cy="3854767"/>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Clear / Few Clouds</a:t>
            </a:r>
          </a:p>
          <a:p>
            <a:pPr algn="l">
              <a:lnSpc>
                <a:spcPts val="2227"/>
              </a:lnSpc>
            </a:pPr>
            <a:r>
              <a:rPr lang="en-US" sz="1650">
                <a:solidFill>
                  <a:srgbClr val="14243A"/>
                </a:solidFill>
                <a:latin typeface="DM Sans"/>
                <a:ea typeface="DM Sans"/>
                <a:cs typeface="DM Sans"/>
                <a:sym typeface="DM Sans"/>
              </a:rPr>
              <a:t>N 463 · mean 4,876.8</a:t>
            </a:r>
          </a:p>
          <a:p>
            <a:pPr algn="l">
              <a:lnSpc>
                <a:spcPts val="2227"/>
              </a:lnSpc>
            </a:pPr>
            <a:r>
              <a:rPr lang="en-US" sz="1650">
                <a:solidFill>
                  <a:srgbClr val="14243A"/>
                </a:solidFill>
                <a:latin typeface="DM Sans"/>
                <a:ea typeface="DM Sans"/>
                <a:cs typeface="DM Sans"/>
                <a:sym typeface="DM Sans"/>
              </a:rPr>
              <a:t>median 4,844.0</a:t>
            </a:r>
          </a:p>
          <a:p>
            <a:pPr algn="l">
              <a:lnSpc>
                <a:spcPts val="2227"/>
              </a:lnSpc>
            </a:pPr>
            <a:endParaRPr lang="en-US" sz="1650">
              <a:solidFill>
                <a:srgbClr val="14243A"/>
              </a:solidFill>
              <a:latin typeface="DM Sans"/>
              <a:ea typeface="DM Sans"/>
              <a:cs typeface="DM Sans"/>
              <a:sym typeface="DM Sans"/>
            </a:endParaRPr>
          </a:p>
          <a:p>
            <a:pPr algn="l">
              <a:lnSpc>
                <a:spcPts val="2227"/>
              </a:lnSpc>
            </a:pPr>
            <a:r>
              <a:rPr lang="en-US" sz="1650">
                <a:solidFill>
                  <a:srgbClr val="14243A"/>
                </a:solidFill>
                <a:latin typeface="DM Sans"/>
                <a:ea typeface="DM Sans"/>
                <a:cs typeface="DM Sans"/>
                <a:sym typeface="DM Sans"/>
              </a:rPr>
              <a:t>Mist / Cloudy  ///</a:t>
            </a:r>
          </a:p>
          <a:p>
            <a:pPr algn="l">
              <a:lnSpc>
                <a:spcPts val="2227"/>
              </a:lnSpc>
            </a:pPr>
            <a:r>
              <a:rPr lang="en-US" sz="1650">
                <a:solidFill>
                  <a:srgbClr val="14243A"/>
                </a:solidFill>
                <a:latin typeface="DM Sans"/>
                <a:ea typeface="DM Sans"/>
                <a:cs typeface="DM Sans"/>
                <a:sym typeface="DM Sans"/>
              </a:rPr>
              <a:t>N 247 · mean 4,035.9</a:t>
            </a:r>
          </a:p>
          <a:p>
            <a:pPr algn="l">
              <a:lnSpc>
                <a:spcPts val="2227"/>
              </a:lnSpc>
            </a:pPr>
            <a:endParaRPr lang="en-US" sz="1650">
              <a:solidFill>
                <a:srgbClr val="14243A"/>
              </a:solidFill>
              <a:latin typeface="DM Sans"/>
              <a:ea typeface="DM Sans"/>
              <a:cs typeface="DM Sans"/>
              <a:sym typeface="DM Sans"/>
            </a:endParaRPr>
          </a:p>
          <a:p>
            <a:pPr algn="l">
              <a:lnSpc>
                <a:spcPts val="2227"/>
              </a:lnSpc>
            </a:pPr>
            <a:r>
              <a:rPr lang="en-US" sz="1650">
                <a:solidFill>
                  <a:srgbClr val="14243A"/>
                </a:solidFill>
                <a:latin typeface="DM Sans"/>
                <a:ea typeface="DM Sans"/>
                <a:cs typeface="DM Sans"/>
                <a:sym typeface="DM Sans"/>
              </a:rPr>
              <a:t>Light Snow / Rain  xxx</a:t>
            </a:r>
          </a:p>
          <a:p>
            <a:pPr algn="l">
              <a:lnSpc>
                <a:spcPts val="2227"/>
              </a:lnSpc>
            </a:pPr>
            <a:r>
              <a:rPr lang="en-US" sz="1650">
                <a:solidFill>
                  <a:srgbClr val="14243A"/>
                </a:solidFill>
                <a:latin typeface="DM Sans"/>
                <a:ea typeface="DM Sans"/>
                <a:cs typeface="DM Sans"/>
                <a:sym typeface="DM Sans"/>
              </a:rPr>
              <a:t>N 21 · mean 1,803.3</a:t>
            </a:r>
          </a:p>
          <a:p>
            <a:pPr algn="l">
              <a:lnSpc>
                <a:spcPts val="2227"/>
              </a:lnSpc>
            </a:pPr>
            <a:r>
              <a:rPr lang="en-US" sz="1650">
                <a:solidFill>
                  <a:srgbClr val="14243A"/>
                </a:solidFill>
                <a:latin typeface="DM Sans"/>
                <a:ea typeface="DM Sans"/>
                <a:cs typeface="DM Sans"/>
                <a:sym typeface="DM Sans"/>
              </a:rPr>
              <a:t>median 1,817.0</a:t>
            </a:r>
          </a:p>
          <a:p>
            <a:pPr algn="l">
              <a:lnSpc>
                <a:spcPts val="2227"/>
              </a:lnSpc>
            </a:pPr>
            <a:endParaRPr lang="en-US" sz="1650">
              <a:solidFill>
                <a:srgbClr val="14243A"/>
              </a:solidFill>
              <a:latin typeface="DM Sans"/>
              <a:ea typeface="DM Sans"/>
              <a:cs typeface="DM Sans"/>
              <a:sym typeface="DM Sans"/>
            </a:endParaRPr>
          </a:p>
          <a:p>
            <a:pPr algn="l">
              <a:lnSpc>
                <a:spcPts val="2227"/>
              </a:lnSpc>
            </a:pPr>
            <a:r>
              <a:rPr lang="en-US" sz="1650">
                <a:solidFill>
                  <a:srgbClr val="14243A"/>
                </a:solidFill>
                <a:latin typeface="DM Sans"/>
                <a:ea typeface="DM Sans"/>
                <a:cs typeface="DM Sans"/>
                <a:sym typeface="DM Sans"/>
              </a:rPr>
              <a:t>The compressed upper neck shows precipitation imposing a hard ceiling—not merely shifting the average.</a:t>
            </a:r>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500137"/>
          </a:xfrm>
          <a:prstGeom prst="rect">
            <a:avLst/>
          </a:prstGeom>
        </p:spPr>
        <p:txBody>
          <a:bodyPr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Commuters Keep Riding in the Cold, While Casual Users Disappear</a:t>
            </a:r>
          </a:p>
        </p:txBody>
      </p:sp>
      <p:sp>
        <p:nvSpPr>
          <p:cNvPr id="4" name="Freeform 4"/>
          <p:cNvSpPr/>
          <p:nvPr/>
        </p:nvSpPr>
        <p:spPr>
          <a:xfrm>
            <a:off x="128619" y="2224659"/>
            <a:ext cx="12798249" cy="7143750"/>
          </a:xfrm>
          <a:custGeom>
            <a:avLst/>
            <a:gdLst/>
            <a:ahLst/>
            <a:cxnLst/>
            <a:rect l="l" t="t" r="r" b="b"/>
            <a:pathLst>
              <a:path w="12798249" h="7143750">
                <a:moveTo>
                  <a:pt x="0" y="0"/>
                </a:moveTo>
                <a:lnTo>
                  <a:pt x="12798249" y="0"/>
                </a:lnTo>
                <a:lnTo>
                  <a:pt x="12798249" y="7143750"/>
                </a:lnTo>
                <a:lnTo>
                  <a:pt x="0" y="7143750"/>
                </a:lnTo>
                <a:lnTo>
                  <a:pt x="0" y="0"/>
                </a:lnTo>
                <a:close/>
              </a:path>
            </a:pathLst>
          </a:custGeom>
          <a:blipFill>
            <a:blip r:embed="rId3">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3049250" y="2224659"/>
            <a:ext cx="4438650" cy="7143750"/>
            <a:chOff x="0" y="0"/>
            <a:chExt cx="5918200" cy="9525000"/>
          </a:xfrm>
        </p:grpSpPr>
        <p:sp>
          <p:nvSpPr>
            <p:cNvPr id="6" name="Freeform 6"/>
            <p:cNvSpPr/>
            <p:nvPr/>
          </p:nvSpPr>
          <p:spPr>
            <a:xfrm>
              <a:off x="0" y="0"/>
              <a:ext cx="5918200" cy="9525000"/>
            </a:xfrm>
            <a:custGeom>
              <a:avLst/>
              <a:gdLst/>
              <a:ahLst/>
              <a:cxnLst/>
              <a:rect l="l" t="t" r="r" b="b"/>
              <a:pathLst>
                <a:path w="5918200" h="9525000">
                  <a:moveTo>
                    <a:pt x="0" y="0"/>
                  </a:moveTo>
                  <a:lnTo>
                    <a:pt x="5918200" y="0"/>
                  </a:lnTo>
                  <a:lnTo>
                    <a:pt x="5918200" y="9525000"/>
                  </a:lnTo>
                  <a:lnTo>
                    <a:pt x="0" y="9525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918200" cy="9563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335000" y="2415159"/>
            <a:ext cx="3810000" cy="235839"/>
          </a:xfrm>
          <a:prstGeom prst="rect">
            <a:avLst/>
          </a:prstGeom>
        </p:spPr>
        <p:txBody>
          <a:bodyPr lIns="0" tIns="0" rIns="0" bIns="0" rtlCol="0" anchor="t">
            <a:spAutoFit/>
          </a:bodyPr>
          <a:lstStyle/>
          <a:p>
            <a:pPr algn="l">
              <a:lnSpc>
                <a:spcPts val="1863"/>
              </a:lnSpc>
            </a:pPr>
            <a:r>
              <a:rPr lang="en-US" sz="1725" b="1">
                <a:solidFill>
                  <a:srgbClr val="14243A"/>
                </a:solidFill>
                <a:latin typeface="Montserrat Bold"/>
                <a:ea typeface="Montserrat Bold"/>
                <a:cs typeface="Montserrat Bold"/>
                <a:sym typeface="Montserrat Bold"/>
              </a:rPr>
              <a:t>REGISTERED  ●  SOLID</a:t>
            </a:r>
          </a:p>
        </p:txBody>
      </p:sp>
      <p:sp>
        <p:nvSpPr>
          <p:cNvPr id="9" name="TextBox 9"/>
          <p:cNvSpPr txBox="1"/>
          <p:nvPr/>
        </p:nvSpPr>
        <p:spPr>
          <a:xfrm>
            <a:off x="13335000" y="2872359"/>
            <a:ext cx="3810000" cy="1092518"/>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Intercept 1,376.0</a:t>
            </a:r>
          </a:p>
          <a:p>
            <a:pPr algn="l">
              <a:lnSpc>
                <a:spcPts val="2227"/>
              </a:lnSpc>
            </a:pPr>
            <a:r>
              <a:rPr lang="en-US" sz="1650">
                <a:solidFill>
                  <a:srgbClr val="14243A"/>
                </a:solidFill>
                <a:latin typeface="DM Sans"/>
                <a:ea typeface="DM Sans"/>
                <a:cs typeface="DM Sans"/>
                <a:sym typeface="DM Sans"/>
              </a:rPr>
              <a:t>Slope +112.3 rides/°C</a:t>
            </a:r>
          </a:p>
          <a:p>
            <a:pPr algn="l">
              <a:lnSpc>
                <a:spcPts val="2227"/>
              </a:lnSpc>
            </a:pPr>
            <a:r>
              <a:rPr lang="en-US" sz="1650">
                <a:solidFill>
                  <a:srgbClr val="14243A"/>
                </a:solidFill>
                <a:latin typeface="DM Sans"/>
                <a:ea typeface="DM Sans"/>
                <a:cs typeface="DM Sans"/>
                <a:sym typeface="DM Sans"/>
              </a:rPr>
              <a:t>R² 0.29 · p&lt;0.001</a:t>
            </a:r>
          </a:p>
          <a:p>
            <a:pPr algn="l">
              <a:lnSpc>
                <a:spcPts val="2227"/>
              </a:lnSpc>
            </a:pPr>
            <a:r>
              <a:rPr lang="en-US" sz="1650">
                <a:solidFill>
                  <a:srgbClr val="14243A"/>
                </a:solidFill>
                <a:latin typeface="DM Sans"/>
                <a:ea typeface="DM Sans"/>
                <a:cs typeface="DM Sans"/>
                <a:sym typeface="DM Sans"/>
              </a:rPr>
              <a:t>Stable 2,000–4,000/day below 10°C</a:t>
            </a:r>
          </a:p>
        </p:txBody>
      </p:sp>
      <p:sp>
        <p:nvSpPr>
          <p:cNvPr id="10" name="TextBox 10"/>
          <p:cNvSpPr txBox="1"/>
          <p:nvPr/>
        </p:nvSpPr>
        <p:spPr>
          <a:xfrm>
            <a:off x="13335000" y="5196459"/>
            <a:ext cx="3810000" cy="235839"/>
          </a:xfrm>
          <a:prstGeom prst="rect">
            <a:avLst/>
          </a:prstGeom>
        </p:spPr>
        <p:txBody>
          <a:bodyPr lIns="0" tIns="0" rIns="0" bIns="0" rtlCol="0" anchor="t">
            <a:spAutoFit/>
          </a:bodyPr>
          <a:lstStyle/>
          <a:p>
            <a:pPr algn="l">
              <a:lnSpc>
                <a:spcPts val="1863"/>
              </a:lnSpc>
            </a:pPr>
            <a:r>
              <a:rPr lang="en-US" sz="1725" b="1">
                <a:solidFill>
                  <a:srgbClr val="14243A"/>
                </a:solidFill>
                <a:latin typeface="Montserrat Bold"/>
                <a:ea typeface="Montserrat Bold"/>
                <a:cs typeface="Montserrat Bold"/>
                <a:sym typeface="Montserrat Bold"/>
              </a:rPr>
              <a:t>CASUAL  ▲  DASHED</a:t>
            </a:r>
          </a:p>
        </p:txBody>
      </p:sp>
      <p:sp>
        <p:nvSpPr>
          <p:cNvPr id="11" name="TextBox 11"/>
          <p:cNvSpPr txBox="1"/>
          <p:nvPr/>
        </p:nvSpPr>
        <p:spPr>
          <a:xfrm>
            <a:off x="13335000" y="5653659"/>
            <a:ext cx="3810000" cy="1368742"/>
          </a:xfrm>
          <a:prstGeom prst="rect">
            <a:avLst/>
          </a:prstGeom>
        </p:spPr>
        <p:txBody>
          <a:bodyPr lIns="0" tIns="0" rIns="0" bIns="0" rtlCol="0" anchor="t">
            <a:spAutoFit/>
          </a:bodyPr>
          <a:lstStyle/>
          <a:p>
            <a:pPr algn="l">
              <a:lnSpc>
                <a:spcPts val="2227"/>
              </a:lnSpc>
            </a:pPr>
            <a:r>
              <a:rPr lang="en-US" sz="1650">
                <a:solidFill>
                  <a:srgbClr val="14243A"/>
                </a:solidFill>
                <a:latin typeface="DM Sans"/>
                <a:ea typeface="DM Sans"/>
                <a:cs typeface="DM Sans"/>
                <a:sym typeface="DM Sans"/>
              </a:rPr>
              <a:t>Intercept −161.3</a:t>
            </a:r>
          </a:p>
          <a:p>
            <a:pPr algn="l">
              <a:lnSpc>
                <a:spcPts val="2227"/>
              </a:lnSpc>
            </a:pPr>
            <a:r>
              <a:rPr lang="en-US" sz="1650">
                <a:solidFill>
                  <a:srgbClr val="14243A"/>
                </a:solidFill>
                <a:latin typeface="DM Sans"/>
                <a:ea typeface="DM Sans"/>
                <a:cs typeface="DM Sans"/>
                <a:sym typeface="DM Sans"/>
              </a:rPr>
              <a:t>Slope +49.7 rides/°C</a:t>
            </a:r>
          </a:p>
          <a:p>
            <a:pPr algn="l">
              <a:lnSpc>
                <a:spcPts val="2227"/>
              </a:lnSpc>
            </a:pPr>
            <a:r>
              <a:rPr lang="en-US" sz="1650">
                <a:solidFill>
                  <a:srgbClr val="14243A"/>
                </a:solidFill>
                <a:latin typeface="DM Sans"/>
                <a:ea typeface="DM Sans"/>
                <a:cs typeface="DM Sans"/>
                <a:sym typeface="DM Sans"/>
              </a:rPr>
              <a:t>R² 0.30 · p&lt;0.001</a:t>
            </a:r>
          </a:p>
          <a:p>
            <a:pPr algn="l">
              <a:lnSpc>
                <a:spcPts val="2227"/>
              </a:lnSpc>
            </a:pPr>
            <a:r>
              <a:rPr lang="en-US" sz="1650">
                <a:solidFill>
                  <a:srgbClr val="14243A"/>
                </a:solidFill>
                <a:latin typeface="DM Sans"/>
                <a:ea typeface="DM Sans"/>
                <a:cs typeface="DM Sans"/>
                <a:sym typeface="DM Sans"/>
              </a:rPr>
              <a:t>Near-zero below 10°C; surges above 20°C</a:t>
            </a:r>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500137"/>
          </a:xfrm>
          <a:prstGeom prst="rect">
            <a:avLst/>
          </a:prstGeom>
        </p:spPr>
        <p:txBody>
          <a:bodyPr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Rapid Growth Beat Winter Dips: 2012 Lows Beat 2011 Peaks</a:t>
            </a:r>
          </a:p>
        </p:txBody>
      </p:sp>
      <p:sp>
        <p:nvSpPr>
          <p:cNvPr id="4" name="Freeform 4"/>
          <p:cNvSpPr/>
          <p:nvPr/>
        </p:nvSpPr>
        <p:spPr>
          <a:xfrm>
            <a:off x="951826" y="2003527"/>
            <a:ext cx="11826715" cy="6138214"/>
          </a:xfrm>
          <a:custGeom>
            <a:avLst/>
            <a:gdLst/>
            <a:ahLst/>
            <a:cxnLst/>
            <a:rect l="l" t="t" r="r" b="b"/>
            <a:pathLst>
              <a:path w="11826715" h="6138214">
                <a:moveTo>
                  <a:pt x="0" y="0"/>
                </a:moveTo>
                <a:lnTo>
                  <a:pt x="11826715" y="0"/>
                </a:lnTo>
                <a:lnTo>
                  <a:pt x="11826715" y="6138214"/>
                </a:lnTo>
                <a:lnTo>
                  <a:pt x="0" y="6138214"/>
                </a:lnTo>
                <a:lnTo>
                  <a:pt x="0" y="0"/>
                </a:lnTo>
                <a:close/>
              </a:path>
            </a:pathLst>
          </a:custGeom>
          <a:blipFill>
            <a:blip r:embed="rId3">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3239750" y="1977009"/>
            <a:ext cx="4248150" cy="6191250"/>
            <a:chOff x="0" y="0"/>
            <a:chExt cx="5664200" cy="8255000"/>
          </a:xfrm>
        </p:grpSpPr>
        <p:sp>
          <p:nvSpPr>
            <p:cNvPr id="6" name="Freeform 6"/>
            <p:cNvSpPr/>
            <p:nvPr/>
          </p:nvSpPr>
          <p:spPr>
            <a:xfrm>
              <a:off x="0" y="0"/>
              <a:ext cx="5664200" cy="8255000"/>
            </a:xfrm>
            <a:custGeom>
              <a:avLst/>
              <a:gdLst/>
              <a:ahLst/>
              <a:cxnLst/>
              <a:rect l="l" t="t" r="r" b="b"/>
              <a:pathLst>
                <a:path w="5664200" h="8255000">
                  <a:moveTo>
                    <a:pt x="0" y="0"/>
                  </a:moveTo>
                  <a:lnTo>
                    <a:pt x="5664200" y="0"/>
                  </a:lnTo>
                  <a:lnTo>
                    <a:pt x="5664200" y="8255000"/>
                  </a:lnTo>
                  <a:lnTo>
                    <a:pt x="0" y="8255000"/>
                  </a:lnTo>
                  <a:close/>
                </a:path>
              </a:pathLst>
            </a:custGeom>
            <a:solidFill>
              <a:srgbClr val="FFFFFF"/>
            </a:solidFill>
            <a:ln w="9525" cap="sq">
              <a:solidFill>
                <a:srgbClr val="C7D4E2"/>
              </a:solidFill>
              <a:prstDash val="solid"/>
              <a:miter/>
            </a:ln>
          </p:spPr>
          <p:txBody>
            <a:bodyPr/>
            <a:lstStyle/>
            <a:p>
              <a:endParaRPr lang="en-US"/>
            </a:p>
          </p:txBody>
        </p:sp>
        <p:sp>
          <p:nvSpPr>
            <p:cNvPr id="7" name="TextBox 7"/>
            <p:cNvSpPr txBox="1"/>
            <p:nvPr/>
          </p:nvSpPr>
          <p:spPr>
            <a:xfrm>
              <a:off x="0" y="-38100"/>
              <a:ext cx="5664200" cy="8293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906500" y="2177034"/>
            <a:ext cx="3143250" cy="694563"/>
          </a:xfrm>
          <a:prstGeom prst="rect">
            <a:avLst/>
          </a:prstGeom>
        </p:spPr>
        <p:txBody>
          <a:bodyPr lIns="0" tIns="0" rIns="0" bIns="0" rtlCol="0" anchor="t">
            <a:spAutoFit/>
          </a:bodyPr>
          <a:lstStyle/>
          <a:p>
            <a:pPr algn="l">
              <a:lnSpc>
                <a:spcPts val="5346"/>
              </a:lnSpc>
            </a:pPr>
            <a:r>
              <a:rPr lang="en-US" sz="4950" b="1">
                <a:solidFill>
                  <a:srgbClr val="14243A"/>
                </a:solidFill>
                <a:latin typeface="Montserrat Bold"/>
                <a:ea typeface="Montserrat Bold"/>
                <a:cs typeface="Montserrat Bold"/>
                <a:sym typeface="Montserrat Bold"/>
              </a:rPr>
              <a:t>+64.9%</a:t>
            </a:r>
          </a:p>
        </p:txBody>
      </p:sp>
      <p:sp>
        <p:nvSpPr>
          <p:cNvPr id="9" name="TextBox 9"/>
          <p:cNvSpPr txBox="1"/>
          <p:nvPr/>
        </p:nvSpPr>
        <p:spPr>
          <a:xfrm>
            <a:off x="13906500" y="2862834"/>
            <a:ext cx="3143250" cy="247650"/>
          </a:xfrm>
          <a:prstGeom prst="rect">
            <a:avLst/>
          </a:prstGeom>
        </p:spPr>
        <p:txBody>
          <a:bodyPr lIns="0" tIns="0" rIns="0" bIns="0" rtlCol="0" anchor="t">
            <a:spAutoFit/>
          </a:bodyPr>
          <a:lstStyle/>
          <a:p>
            <a:pPr algn="l">
              <a:lnSpc>
                <a:spcPts val="1950"/>
              </a:lnSpc>
            </a:pPr>
            <a:r>
              <a:rPr lang="en-US" sz="1500" spc="150">
                <a:solidFill>
                  <a:srgbClr val="52647A"/>
                </a:solidFill>
                <a:latin typeface="DM Sans"/>
                <a:ea typeface="DM Sans"/>
                <a:cs typeface="DM Sans"/>
                <a:sym typeface="DM Sans"/>
              </a:rPr>
              <a:t>YEAR-OVER-YEAR</a:t>
            </a:r>
          </a:p>
        </p:txBody>
      </p:sp>
      <p:sp>
        <p:nvSpPr>
          <p:cNvPr id="10" name="TextBox 10"/>
          <p:cNvSpPr txBox="1"/>
          <p:nvPr/>
        </p:nvSpPr>
        <p:spPr>
          <a:xfrm>
            <a:off x="13525500" y="3577209"/>
            <a:ext cx="3714750" cy="278511"/>
          </a:xfrm>
          <a:prstGeom prst="rect">
            <a:avLst/>
          </a:prstGeom>
        </p:spPr>
        <p:txBody>
          <a:bodyPr lIns="0" tIns="0" rIns="0" bIns="0" rtlCol="0" anchor="t">
            <a:spAutoFit/>
          </a:bodyPr>
          <a:lstStyle/>
          <a:p>
            <a:pPr algn="l">
              <a:lnSpc>
                <a:spcPts val="2187"/>
              </a:lnSpc>
            </a:pPr>
            <a:r>
              <a:rPr lang="en-US" sz="2025" b="1">
                <a:solidFill>
                  <a:srgbClr val="14243A"/>
                </a:solidFill>
                <a:latin typeface="Montserrat Bold"/>
                <a:ea typeface="Montserrat Bold"/>
                <a:cs typeface="Montserrat Bold"/>
                <a:sym typeface="Montserrat Bold"/>
              </a:rPr>
              <a:t>1,243,103  →  2,049,576 rides</a:t>
            </a:r>
          </a:p>
        </p:txBody>
      </p:sp>
      <p:sp>
        <p:nvSpPr>
          <p:cNvPr id="11" name="TextBox 11"/>
          <p:cNvSpPr txBox="1"/>
          <p:nvPr/>
        </p:nvSpPr>
        <p:spPr>
          <a:xfrm>
            <a:off x="13525500" y="4767834"/>
            <a:ext cx="3714750" cy="1167289"/>
          </a:xfrm>
          <a:prstGeom prst="rect">
            <a:avLst/>
          </a:prstGeom>
        </p:spPr>
        <p:txBody>
          <a:bodyPr lIns="0" tIns="0" rIns="0" bIns="0" rtlCol="0" anchor="t">
            <a:spAutoFit/>
          </a:bodyPr>
          <a:lstStyle/>
          <a:p>
            <a:pPr algn="l">
              <a:lnSpc>
                <a:spcPts val="2328"/>
              </a:lnSpc>
            </a:pPr>
            <a:r>
              <a:rPr lang="en-US" sz="1725">
                <a:solidFill>
                  <a:srgbClr val="14243A"/>
                </a:solidFill>
                <a:latin typeface="DM Sans"/>
                <a:ea typeface="DM Sans"/>
                <a:cs typeface="DM Sans"/>
                <a:sym typeface="DM Sans"/>
              </a:rPr>
              <a:t>Winter 2012 low stayed above 2,041.4 daily rides—evidence of a structural ratchet, not a seasonal rebound.</a:t>
            </a: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2"/>
          <p:cNvSpPr txBox="1"/>
          <p:nvPr/>
        </p:nvSpPr>
        <p:spPr>
          <a:xfrm>
            <a:off x="800100" y="819150"/>
            <a:ext cx="14287500" cy="642366"/>
          </a:xfrm>
          <a:prstGeom prst="rect">
            <a:avLst/>
          </a:prstGeom>
        </p:spPr>
        <p:txBody>
          <a:bodyPr lIns="0" tIns="0" rIns="0" bIns="0" rtlCol="0" anchor="t">
            <a:spAutoFit/>
          </a:bodyPr>
          <a:lstStyle/>
          <a:p>
            <a:pPr algn="l">
              <a:lnSpc>
                <a:spcPts val="5022"/>
              </a:lnSpc>
            </a:pPr>
            <a:r>
              <a:rPr lang="en-US" sz="4650" b="1">
                <a:solidFill>
                  <a:srgbClr val="FFFFFF"/>
                </a:solidFill>
                <a:latin typeface="Montserrat Bold"/>
                <a:ea typeface="Montserrat Bold"/>
                <a:cs typeface="Montserrat Bold"/>
                <a:sym typeface="Montserrat Bold"/>
              </a:rPr>
              <a:t>Three forces set the daily operating envelope.</a:t>
            </a:r>
          </a:p>
        </p:txBody>
      </p:sp>
      <p:grpSp>
        <p:nvGrpSpPr>
          <p:cNvPr id="3" name="Group 3"/>
          <p:cNvGrpSpPr/>
          <p:nvPr/>
        </p:nvGrpSpPr>
        <p:grpSpPr>
          <a:xfrm>
            <a:off x="800100" y="2857500"/>
            <a:ext cx="5238750" cy="4191000"/>
            <a:chOff x="0" y="0"/>
            <a:chExt cx="6985000" cy="5588000"/>
          </a:xfrm>
        </p:grpSpPr>
        <p:sp>
          <p:nvSpPr>
            <p:cNvPr id="4" name="Freeform 4"/>
            <p:cNvSpPr/>
            <p:nvPr/>
          </p:nvSpPr>
          <p:spPr>
            <a:xfrm>
              <a:off x="0" y="0"/>
              <a:ext cx="6985000" cy="5588000"/>
            </a:xfrm>
            <a:custGeom>
              <a:avLst/>
              <a:gdLst/>
              <a:ahLst/>
              <a:cxnLst/>
              <a:rect l="l" t="t" r="r" b="b"/>
              <a:pathLst>
                <a:path w="6985000" h="5588000">
                  <a:moveTo>
                    <a:pt x="0" y="0"/>
                  </a:moveTo>
                  <a:lnTo>
                    <a:pt x="6985000" y="0"/>
                  </a:lnTo>
                  <a:lnTo>
                    <a:pt x="6985000" y="5588000"/>
                  </a:lnTo>
                  <a:lnTo>
                    <a:pt x="0" y="5588000"/>
                  </a:lnTo>
                  <a:close/>
                </a:path>
              </a:pathLst>
            </a:custGeom>
            <a:solidFill>
              <a:srgbClr val="FFFFFF"/>
            </a:solidFill>
            <a:ln w="9525" cap="sq">
              <a:solidFill>
                <a:srgbClr val="C7D4E2"/>
              </a:solidFill>
              <a:prstDash val="solid"/>
              <a:miter/>
            </a:ln>
          </p:spPr>
          <p:txBody>
            <a:bodyPr/>
            <a:lstStyle/>
            <a:p>
              <a:endParaRPr lang="en-US"/>
            </a:p>
          </p:txBody>
        </p:sp>
        <p:sp>
          <p:nvSpPr>
            <p:cNvPr id="5" name="TextBox 5"/>
            <p:cNvSpPr txBox="1"/>
            <p:nvPr/>
          </p:nvSpPr>
          <p:spPr>
            <a:xfrm>
              <a:off x="0" y="-38100"/>
              <a:ext cx="6985000" cy="56261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6419850" y="2857500"/>
            <a:ext cx="5238750" cy="4191000"/>
            <a:chOff x="0" y="0"/>
            <a:chExt cx="6985000" cy="5588000"/>
          </a:xfrm>
        </p:grpSpPr>
        <p:sp>
          <p:nvSpPr>
            <p:cNvPr id="7" name="Freeform 7"/>
            <p:cNvSpPr/>
            <p:nvPr/>
          </p:nvSpPr>
          <p:spPr>
            <a:xfrm>
              <a:off x="0" y="0"/>
              <a:ext cx="6985000" cy="5588000"/>
            </a:xfrm>
            <a:custGeom>
              <a:avLst/>
              <a:gdLst/>
              <a:ahLst/>
              <a:cxnLst/>
              <a:rect l="l" t="t" r="r" b="b"/>
              <a:pathLst>
                <a:path w="6985000" h="5588000">
                  <a:moveTo>
                    <a:pt x="0" y="0"/>
                  </a:moveTo>
                  <a:lnTo>
                    <a:pt x="6985000" y="0"/>
                  </a:lnTo>
                  <a:lnTo>
                    <a:pt x="6985000" y="5588000"/>
                  </a:lnTo>
                  <a:lnTo>
                    <a:pt x="0" y="5588000"/>
                  </a:lnTo>
                  <a:close/>
                </a:path>
              </a:pathLst>
            </a:custGeom>
            <a:solidFill>
              <a:srgbClr val="1769AA"/>
            </a:solidFill>
            <a:ln w="9525" cap="sq">
              <a:solidFill>
                <a:srgbClr val="C7D4E2"/>
              </a:solidFill>
              <a:prstDash val="solid"/>
              <a:miter/>
            </a:ln>
          </p:spPr>
          <p:txBody>
            <a:bodyPr/>
            <a:lstStyle/>
            <a:p>
              <a:endParaRPr lang="en-US"/>
            </a:p>
          </p:txBody>
        </p:sp>
        <p:sp>
          <p:nvSpPr>
            <p:cNvPr id="8" name="TextBox 8"/>
            <p:cNvSpPr txBox="1"/>
            <p:nvPr/>
          </p:nvSpPr>
          <p:spPr>
            <a:xfrm>
              <a:off x="0" y="-38100"/>
              <a:ext cx="6985000" cy="56261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2039600" y="2857500"/>
            <a:ext cx="5238750" cy="4191000"/>
            <a:chOff x="0" y="0"/>
            <a:chExt cx="6985000" cy="5588000"/>
          </a:xfrm>
        </p:grpSpPr>
        <p:sp>
          <p:nvSpPr>
            <p:cNvPr id="10" name="Freeform 10"/>
            <p:cNvSpPr/>
            <p:nvPr/>
          </p:nvSpPr>
          <p:spPr>
            <a:xfrm>
              <a:off x="0" y="0"/>
              <a:ext cx="6985000" cy="5588000"/>
            </a:xfrm>
            <a:custGeom>
              <a:avLst/>
              <a:gdLst/>
              <a:ahLst/>
              <a:cxnLst/>
              <a:rect l="l" t="t" r="r" b="b"/>
              <a:pathLst>
                <a:path w="6985000" h="5588000">
                  <a:moveTo>
                    <a:pt x="0" y="0"/>
                  </a:moveTo>
                  <a:lnTo>
                    <a:pt x="6985000" y="0"/>
                  </a:lnTo>
                  <a:lnTo>
                    <a:pt x="6985000" y="5588000"/>
                  </a:lnTo>
                  <a:lnTo>
                    <a:pt x="0" y="5588000"/>
                  </a:lnTo>
                  <a:close/>
                </a:path>
              </a:pathLst>
            </a:custGeom>
            <a:solidFill>
              <a:srgbClr val="FFFFFF"/>
            </a:solidFill>
            <a:ln w="9525" cap="sq">
              <a:solidFill>
                <a:srgbClr val="C7D4E2"/>
              </a:solidFill>
              <a:prstDash val="solid"/>
              <a:miter/>
            </a:ln>
          </p:spPr>
          <p:txBody>
            <a:bodyPr/>
            <a:lstStyle/>
            <a:p>
              <a:endParaRPr lang="en-US"/>
            </a:p>
          </p:txBody>
        </p:sp>
        <p:sp>
          <p:nvSpPr>
            <p:cNvPr id="11" name="TextBox 11"/>
            <p:cNvSpPr txBox="1"/>
            <p:nvPr/>
          </p:nvSpPr>
          <p:spPr>
            <a:xfrm>
              <a:off x="0" y="-38100"/>
              <a:ext cx="6985000" cy="5626100"/>
            </a:xfrm>
            <a:prstGeom prst="rect">
              <a:avLst/>
            </a:prstGeom>
          </p:spPr>
          <p:txBody>
            <a:bodyPr lIns="50800" tIns="50800" rIns="50800" bIns="50800" rtlCol="0" anchor="ctr"/>
            <a:lstStyle/>
            <a:p>
              <a:pPr algn="l">
                <a:lnSpc>
                  <a:spcPts val="1679"/>
                </a:lnSpc>
              </a:pPr>
              <a:endParaRPr/>
            </a:p>
          </p:txBody>
        </p:sp>
      </p:grpSp>
      <p:sp>
        <p:nvSpPr>
          <p:cNvPr id="12" name="TextBox 12"/>
          <p:cNvSpPr txBox="1"/>
          <p:nvPr/>
        </p:nvSpPr>
        <p:spPr>
          <a:xfrm>
            <a:off x="1123950" y="3190875"/>
            <a:ext cx="1143000" cy="587883"/>
          </a:xfrm>
          <a:prstGeom prst="rect">
            <a:avLst/>
          </a:prstGeom>
        </p:spPr>
        <p:txBody>
          <a:bodyPr lIns="0" tIns="0" rIns="0" bIns="0" rtlCol="0" anchor="t">
            <a:spAutoFit/>
          </a:bodyPr>
          <a:lstStyle/>
          <a:p>
            <a:pPr algn="l">
              <a:lnSpc>
                <a:spcPts val="4536"/>
              </a:lnSpc>
            </a:pPr>
            <a:r>
              <a:rPr lang="en-US" sz="4200" b="1">
                <a:solidFill>
                  <a:srgbClr val="14243A"/>
                </a:solidFill>
                <a:latin typeface="Montserrat Bold"/>
                <a:ea typeface="Montserrat Bold"/>
                <a:cs typeface="Montserrat Bold"/>
                <a:sym typeface="Montserrat Bold"/>
              </a:rPr>
              <a:t>01</a:t>
            </a:r>
          </a:p>
        </p:txBody>
      </p:sp>
      <p:sp>
        <p:nvSpPr>
          <p:cNvPr id="13" name="TextBox 13"/>
          <p:cNvSpPr txBox="1"/>
          <p:nvPr/>
        </p:nvSpPr>
        <p:spPr>
          <a:xfrm>
            <a:off x="1123950" y="4010025"/>
            <a:ext cx="4572000" cy="286893"/>
          </a:xfrm>
          <a:prstGeom prst="rect">
            <a:avLst/>
          </a:prstGeom>
        </p:spPr>
        <p:txBody>
          <a:bodyPr lIns="0" tIns="0" rIns="0" bIns="0" rtlCol="0" anchor="t">
            <a:spAutoFit/>
          </a:bodyPr>
          <a:lstStyle/>
          <a:p>
            <a:pPr algn="l">
              <a:lnSpc>
                <a:spcPts val="2106"/>
              </a:lnSpc>
            </a:pPr>
            <a:r>
              <a:rPr lang="en-US" sz="1950" b="1">
                <a:solidFill>
                  <a:srgbClr val="14243A"/>
                </a:solidFill>
                <a:latin typeface="Montserrat Bold"/>
                <a:ea typeface="Montserrat Bold"/>
                <a:cs typeface="Montserrat Bold"/>
                <a:sym typeface="Montserrat Bold"/>
              </a:rPr>
              <a:t>ENVIRONMENTAL CEILING</a:t>
            </a:r>
          </a:p>
        </p:txBody>
      </p:sp>
      <p:sp>
        <p:nvSpPr>
          <p:cNvPr id="14" name="TextBox 14"/>
          <p:cNvSpPr txBox="1"/>
          <p:nvPr/>
        </p:nvSpPr>
        <p:spPr>
          <a:xfrm>
            <a:off x="1123950" y="4733925"/>
            <a:ext cx="4572000" cy="935831"/>
          </a:xfrm>
          <a:prstGeom prst="rect">
            <a:avLst/>
          </a:prstGeom>
        </p:spPr>
        <p:txBody>
          <a:bodyPr lIns="0" tIns="0" rIns="0" bIns="0" rtlCol="0" anchor="t">
            <a:spAutoFit/>
          </a:bodyPr>
          <a:lstStyle/>
          <a:p>
            <a:pPr algn="l">
              <a:lnSpc>
                <a:spcPts val="2531"/>
              </a:lnSpc>
            </a:pPr>
            <a:r>
              <a:rPr lang="en-US" sz="1875">
                <a:solidFill>
                  <a:srgbClr val="14243A"/>
                </a:solidFill>
                <a:latin typeface="DM Sans"/>
                <a:ea typeface="DM Sans"/>
                <a:cs typeface="DM Sans"/>
                <a:sym typeface="DM Sans"/>
              </a:rPr>
              <a:t>Precipitation cuts mean daily volume by 63%, creating a hard fleet-utilisation ceiling.</a:t>
            </a:r>
          </a:p>
        </p:txBody>
      </p:sp>
      <p:sp>
        <p:nvSpPr>
          <p:cNvPr id="15" name="TextBox 15"/>
          <p:cNvSpPr txBox="1"/>
          <p:nvPr/>
        </p:nvSpPr>
        <p:spPr>
          <a:xfrm>
            <a:off x="6743700" y="3190875"/>
            <a:ext cx="1143000" cy="587883"/>
          </a:xfrm>
          <a:prstGeom prst="rect">
            <a:avLst/>
          </a:prstGeom>
        </p:spPr>
        <p:txBody>
          <a:bodyPr lIns="0" tIns="0" rIns="0" bIns="0" rtlCol="0" anchor="t">
            <a:spAutoFit/>
          </a:bodyPr>
          <a:lstStyle/>
          <a:p>
            <a:pPr algn="l">
              <a:lnSpc>
                <a:spcPts val="4536"/>
              </a:lnSpc>
            </a:pPr>
            <a:r>
              <a:rPr lang="en-US" sz="4200" b="1">
                <a:solidFill>
                  <a:srgbClr val="14243A"/>
                </a:solidFill>
                <a:latin typeface="Montserrat Bold"/>
                <a:ea typeface="Montserrat Bold"/>
                <a:cs typeface="Montserrat Bold"/>
                <a:sym typeface="Montserrat Bold"/>
              </a:rPr>
              <a:t>02</a:t>
            </a:r>
          </a:p>
        </p:txBody>
      </p:sp>
      <p:sp>
        <p:nvSpPr>
          <p:cNvPr id="16" name="TextBox 16"/>
          <p:cNvSpPr txBox="1"/>
          <p:nvPr/>
        </p:nvSpPr>
        <p:spPr>
          <a:xfrm>
            <a:off x="6743700" y="4010025"/>
            <a:ext cx="4572000" cy="286893"/>
          </a:xfrm>
          <a:prstGeom prst="rect">
            <a:avLst/>
          </a:prstGeom>
        </p:spPr>
        <p:txBody>
          <a:bodyPr lIns="0" tIns="0" rIns="0" bIns="0" rtlCol="0" anchor="t">
            <a:spAutoFit/>
          </a:bodyPr>
          <a:lstStyle/>
          <a:p>
            <a:pPr algn="l">
              <a:lnSpc>
                <a:spcPts val="2106"/>
              </a:lnSpc>
            </a:pPr>
            <a:r>
              <a:rPr lang="en-US" sz="1950" b="1">
                <a:solidFill>
                  <a:srgbClr val="14243A"/>
                </a:solidFill>
                <a:latin typeface="Montserrat Bold"/>
                <a:ea typeface="Montserrat Bold"/>
                <a:cs typeface="Montserrat Bold"/>
                <a:sym typeface="Montserrat Bold"/>
              </a:rPr>
              <a:t>COHORT DIVERGENCE</a:t>
            </a:r>
          </a:p>
        </p:txBody>
      </p:sp>
      <p:sp>
        <p:nvSpPr>
          <p:cNvPr id="17" name="TextBox 17"/>
          <p:cNvSpPr txBox="1"/>
          <p:nvPr/>
        </p:nvSpPr>
        <p:spPr>
          <a:xfrm>
            <a:off x="6743700" y="4733925"/>
            <a:ext cx="4572000" cy="935831"/>
          </a:xfrm>
          <a:prstGeom prst="rect">
            <a:avLst/>
          </a:prstGeom>
        </p:spPr>
        <p:txBody>
          <a:bodyPr lIns="0" tIns="0" rIns="0" bIns="0" rtlCol="0" anchor="t">
            <a:spAutoFit/>
          </a:bodyPr>
          <a:lstStyle/>
          <a:p>
            <a:pPr algn="l">
              <a:lnSpc>
                <a:spcPts val="2531"/>
              </a:lnSpc>
            </a:pPr>
            <a:r>
              <a:rPr lang="en-US" sz="1875">
                <a:solidFill>
                  <a:srgbClr val="FFFFFF"/>
                </a:solidFill>
                <a:latin typeface="DM Sans"/>
                <a:ea typeface="DM Sans"/>
                <a:cs typeface="DM Sans"/>
                <a:sym typeface="DM Sans"/>
              </a:rPr>
              <a:t>Registered commuters anchor winter demand. Exact slopes: +112.3 vs +49.7 rides/°C for registered vs casual.</a:t>
            </a:r>
          </a:p>
        </p:txBody>
      </p:sp>
      <p:sp>
        <p:nvSpPr>
          <p:cNvPr id="18" name="TextBox 18"/>
          <p:cNvSpPr txBox="1"/>
          <p:nvPr/>
        </p:nvSpPr>
        <p:spPr>
          <a:xfrm>
            <a:off x="12363450" y="3190875"/>
            <a:ext cx="1143000" cy="587883"/>
          </a:xfrm>
          <a:prstGeom prst="rect">
            <a:avLst/>
          </a:prstGeom>
        </p:spPr>
        <p:txBody>
          <a:bodyPr lIns="0" tIns="0" rIns="0" bIns="0" rtlCol="0" anchor="t">
            <a:spAutoFit/>
          </a:bodyPr>
          <a:lstStyle/>
          <a:p>
            <a:pPr algn="l">
              <a:lnSpc>
                <a:spcPts val="4536"/>
              </a:lnSpc>
            </a:pPr>
            <a:r>
              <a:rPr lang="en-US" sz="4200" b="1">
                <a:solidFill>
                  <a:srgbClr val="14243A"/>
                </a:solidFill>
                <a:latin typeface="Montserrat Bold"/>
                <a:ea typeface="Montserrat Bold"/>
                <a:cs typeface="Montserrat Bold"/>
                <a:sym typeface="Montserrat Bold"/>
              </a:rPr>
              <a:t>03</a:t>
            </a:r>
          </a:p>
        </p:txBody>
      </p:sp>
      <p:sp>
        <p:nvSpPr>
          <p:cNvPr id="19" name="TextBox 19"/>
          <p:cNvSpPr txBox="1"/>
          <p:nvPr/>
        </p:nvSpPr>
        <p:spPr>
          <a:xfrm>
            <a:off x="12363450" y="4010025"/>
            <a:ext cx="4572000" cy="286893"/>
          </a:xfrm>
          <a:prstGeom prst="rect">
            <a:avLst/>
          </a:prstGeom>
        </p:spPr>
        <p:txBody>
          <a:bodyPr lIns="0" tIns="0" rIns="0" bIns="0" rtlCol="0" anchor="t">
            <a:spAutoFit/>
          </a:bodyPr>
          <a:lstStyle/>
          <a:p>
            <a:pPr algn="l">
              <a:lnSpc>
                <a:spcPts val="2106"/>
              </a:lnSpc>
            </a:pPr>
            <a:r>
              <a:rPr lang="en-US" sz="1950" b="1">
                <a:solidFill>
                  <a:srgbClr val="14243A"/>
                </a:solidFill>
                <a:latin typeface="Montserrat Bold"/>
                <a:ea typeface="Montserrat Bold"/>
                <a:cs typeface="Montserrat Bold"/>
                <a:sym typeface="Montserrat Bold"/>
              </a:rPr>
              <a:t>ADOPTION RATCHET</a:t>
            </a:r>
          </a:p>
        </p:txBody>
      </p:sp>
      <p:sp>
        <p:nvSpPr>
          <p:cNvPr id="20" name="TextBox 20"/>
          <p:cNvSpPr txBox="1"/>
          <p:nvPr/>
        </p:nvSpPr>
        <p:spPr>
          <a:xfrm>
            <a:off x="12363450" y="4733925"/>
            <a:ext cx="4572000" cy="935831"/>
          </a:xfrm>
          <a:prstGeom prst="rect">
            <a:avLst/>
          </a:prstGeom>
        </p:spPr>
        <p:txBody>
          <a:bodyPr lIns="0" tIns="0" rIns="0" bIns="0" rtlCol="0" anchor="t">
            <a:spAutoFit/>
          </a:bodyPr>
          <a:lstStyle/>
          <a:p>
            <a:pPr algn="l">
              <a:lnSpc>
                <a:spcPts val="2531"/>
              </a:lnSpc>
            </a:pPr>
            <a:r>
              <a:rPr lang="en-US" sz="1875">
                <a:solidFill>
                  <a:srgbClr val="14243A"/>
                </a:solidFill>
                <a:latin typeface="DM Sans"/>
                <a:ea typeface="DM Sans"/>
                <a:cs typeface="DM Sans"/>
                <a:sym typeface="DM Sans"/>
              </a:rPr>
              <a:t>Network expansion lifts the baseline: +64.9% annual growth from 1.24M to 2.05M rides.</a:t>
            </a:r>
          </a:p>
        </p:txBody>
      </p:sp>
      <p:sp>
        <p:nvSpPr>
          <p:cNvPr id="21" name="TextBox 21"/>
          <p:cNvSpPr txBox="1"/>
          <p:nvPr/>
        </p:nvSpPr>
        <p:spPr>
          <a:xfrm>
            <a:off x="800100" y="8124825"/>
            <a:ext cx="16687800" cy="374523"/>
          </a:xfrm>
          <a:prstGeom prst="rect">
            <a:avLst/>
          </a:prstGeom>
        </p:spPr>
        <p:txBody>
          <a:bodyPr lIns="0" tIns="0" rIns="0" bIns="0" rtlCol="0" anchor="t">
            <a:spAutoFit/>
          </a:bodyPr>
          <a:lstStyle/>
          <a:p>
            <a:pPr algn="ctr">
              <a:lnSpc>
                <a:spcPts val="2916"/>
              </a:lnSpc>
            </a:pPr>
            <a:r>
              <a:rPr lang="en-US" sz="2700" b="1">
                <a:solidFill>
                  <a:srgbClr val="FFFFFF"/>
                </a:solidFill>
                <a:latin typeface="Montserrat Bold"/>
                <a:ea typeface="Montserrat Bold"/>
                <a:cs typeface="Montserrat Bold"/>
                <a:sym typeface="Montserrat Bold"/>
              </a:rPr>
              <a:t>Daily totals set capacity. Hourly patterns tell crews when to move bikes.</a:t>
            </a: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Hourly demand is right-skewed—and operationally defined by peaks</a:t>
            </a:r>
          </a:p>
        </p:txBody>
      </p:sp>
      <p:sp>
        <p:nvSpPr>
          <p:cNvPr id="3" name="TextBox 3"/>
          <p:cNvSpPr txBox="1"/>
          <p:nvPr/>
        </p:nvSpPr>
        <p:spPr>
          <a:xfrm>
            <a:off x="800100" y="1216914"/>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Problem 2 pre-summary · dataset_x.csv · 17,379 hourly records</a:t>
            </a:r>
          </a:p>
        </p:txBody>
      </p:sp>
      <p:grpSp>
        <p:nvGrpSpPr>
          <p:cNvPr id="4" name="Group 4"/>
          <p:cNvGrpSpPr/>
          <p:nvPr/>
        </p:nvGrpSpPr>
        <p:grpSpPr>
          <a:xfrm>
            <a:off x="800100" y="1738884"/>
            <a:ext cx="16687800" cy="638175"/>
            <a:chOff x="0" y="0"/>
            <a:chExt cx="22250400" cy="850900"/>
          </a:xfrm>
        </p:grpSpPr>
        <p:sp>
          <p:nvSpPr>
            <p:cNvPr id="5" name="Freeform 5"/>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0B1F3A"/>
            </a:solidFill>
            <a:ln cap="sq">
              <a:noFill/>
              <a:prstDash val="solid"/>
              <a:miter/>
            </a:ln>
          </p:spPr>
          <p:txBody>
            <a:bodyPr/>
            <a:lstStyle/>
            <a:p>
              <a:endParaRPr lang="en-US"/>
            </a:p>
          </p:txBody>
        </p:sp>
        <p:sp>
          <p:nvSpPr>
            <p:cNvPr id="6" name="TextBox 6"/>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7" name="Group 7"/>
          <p:cNvGrpSpPr/>
          <p:nvPr/>
        </p:nvGrpSpPr>
        <p:grpSpPr>
          <a:xfrm>
            <a:off x="800100" y="2434209"/>
            <a:ext cx="16687800" cy="638175"/>
            <a:chOff x="0" y="0"/>
            <a:chExt cx="22250400" cy="850900"/>
          </a:xfrm>
        </p:grpSpPr>
        <p:sp>
          <p:nvSpPr>
            <p:cNvPr id="8" name="Freeform 8"/>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FFFFFF"/>
            </a:solidFill>
            <a:ln cap="sq">
              <a:noFill/>
              <a:prstDash val="solid"/>
              <a:miter/>
            </a:ln>
          </p:spPr>
          <p:txBody>
            <a:bodyPr/>
            <a:lstStyle/>
            <a:p>
              <a:endParaRPr lang="en-US"/>
            </a:p>
          </p:txBody>
        </p:sp>
        <p:sp>
          <p:nvSpPr>
            <p:cNvPr id="9" name="TextBox 9"/>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800100" y="3129534"/>
            <a:ext cx="16687800" cy="638175"/>
            <a:chOff x="0" y="0"/>
            <a:chExt cx="22250400" cy="850900"/>
          </a:xfrm>
        </p:grpSpPr>
        <p:sp>
          <p:nvSpPr>
            <p:cNvPr id="11" name="Freeform 11"/>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DCECF7"/>
            </a:solidFill>
            <a:ln cap="sq">
              <a:noFill/>
              <a:prstDash val="solid"/>
              <a:miter/>
            </a:ln>
          </p:spPr>
          <p:txBody>
            <a:bodyPr/>
            <a:lstStyle/>
            <a:p>
              <a:endParaRPr lang="en-US"/>
            </a:p>
          </p:txBody>
        </p:sp>
        <p:sp>
          <p:nvSpPr>
            <p:cNvPr id="12" name="TextBox 12"/>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800100" y="3824859"/>
            <a:ext cx="16687800" cy="638175"/>
            <a:chOff x="0" y="0"/>
            <a:chExt cx="22250400" cy="850900"/>
          </a:xfrm>
        </p:grpSpPr>
        <p:sp>
          <p:nvSpPr>
            <p:cNvPr id="14" name="Freeform 14"/>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FFFFFF"/>
            </a:solidFill>
            <a:ln cap="sq">
              <a:noFill/>
              <a:prstDash val="solid"/>
              <a:miter/>
            </a:ln>
          </p:spPr>
          <p:txBody>
            <a:bodyPr/>
            <a:lstStyle/>
            <a:p>
              <a:endParaRPr lang="en-US"/>
            </a:p>
          </p:txBody>
        </p:sp>
        <p:sp>
          <p:nvSpPr>
            <p:cNvPr id="15" name="TextBox 15"/>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16" name="Group 16"/>
          <p:cNvGrpSpPr/>
          <p:nvPr/>
        </p:nvGrpSpPr>
        <p:grpSpPr>
          <a:xfrm>
            <a:off x="800100" y="4520184"/>
            <a:ext cx="16687800" cy="638175"/>
            <a:chOff x="0" y="0"/>
            <a:chExt cx="22250400" cy="850900"/>
          </a:xfrm>
        </p:grpSpPr>
        <p:sp>
          <p:nvSpPr>
            <p:cNvPr id="17" name="Freeform 17"/>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DCECF7"/>
            </a:solidFill>
            <a:ln cap="sq">
              <a:noFill/>
              <a:prstDash val="solid"/>
              <a:miter/>
            </a:ln>
          </p:spPr>
          <p:txBody>
            <a:bodyPr/>
            <a:lstStyle/>
            <a:p>
              <a:endParaRPr lang="en-US"/>
            </a:p>
          </p:txBody>
        </p:sp>
        <p:sp>
          <p:nvSpPr>
            <p:cNvPr id="18" name="TextBox 18"/>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19" name="Group 19"/>
          <p:cNvGrpSpPr/>
          <p:nvPr/>
        </p:nvGrpSpPr>
        <p:grpSpPr>
          <a:xfrm>
            <a:off x="800100" y="5215509"/>
            <a:ext cx="16687800" cy="638175"/>
            <a:chOff x="0" y="0"/>
            <a:chExt cx="22250400" cy="850900"/>
          </a:xfrm>
        </p:grpSpPr>
        <p:sp>
          <p:nvSpPr>
            <p:cNvPr id="20" name="Freeform 20"/>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FFFFFF"/>
            </a:solidFill>
            <a:ln cap="sq">
              <a:noFill/>
              <a:prstDash val="solid"/>
              <a:miter/>
            </a:ln>
          </p:spPr>
          <p:txBody>
            <a:bodyPr/>
            <a:lstStyle/>
            <a:p>
              <a:endParaRPr lang="en-US"/>
            </a:p>
          </p:txBody>
        </p:sp>
        <p:sp>
          <p:nvSpPr>
            <p:cNvPr id="21" name="TextBox 21"/>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22" name="Group 22"/>
          <p:cNvGrpSpPr/>
          <p:nvPr/>
        </p:nvGrpSpPr>
        <p:grpSpPr>
          <a:xfrm>
            <a:off x="800100" y="5910834"/>
            <a:ext cx="16687800" cy="638175"/>
            <a:chOff x="0" y="0"/>
            <a:chExt cx="22250400" cy="850900"/>
          </a:xfrm>
        </p:grpSpPr>
        <p:sp>
          <p:nvSpPr>
            <p:cNvPr id="23" name="Freeform 23"/>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DCECF7"/>
            </a:solidFill>
            <a:ln cap="sq">
              <a:noFill/>
              <a:prstDash val="solid"/>
              <a:miter/>
            </a:ln>
          </p:spPr>
          <p:txBody>
            <a:bodyPr/>
            <a:lstStyle/>
            <a:p>
              <a:endParaRPr lang="en-US"/>
            </a:p>
          </p:txBody>
        </p:sp>
        <p:sp>
          <p:nvSpPr>
            <p:cNvPr id="24" name="TextBox 24"/>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grpSp>
        <p:nvGrpSpPr>
          <p:cNvPr id="25" name="Group 25"/>
          <p:cNvGrpSpPr/>
          <p:nvPr/>
        </p:nvGrpSpPr>
        <p:grpSpPr>
          <a:xfrm>
            <a:off x="800100" y="6606159"/>
            <a:ext cx="16687800" cy="638175"/>
            <a:chOff x="0" y="0"/>
            <a:chExt cx="22250400" cy="850900"/>
          </a:xfrm>
        </p:grpSpPr>
        <p:sp>
          <p:nvSpPr>
            <p:cNvPr id="26" name="Freeform 26"/>
            <p:cNvSpPr/>
            <p:nvPr/>
          </p:nvSpPr>
          <p:spPr>
            <a:xfrm>
              <a:off x="0" y="0"/>
              <a:ext cx="22250400" cy="850900"/>
            </a:xfrm>
            <a:custGeom>
              <a:avLst/>
              <a:gdLst/>
              <a:ahLst/>
              <a:cxnLst/>
              <a:rect l="l" t="t" r="r" b="b"/>
              <a:pathLst>
                <a:path w="22250400" h="850900">
                  <a:moveTo>
                    <a:pt x="0" y="0"/>
                  </a:moveTo>
                  <a:lnTo>
                    <a:pt x="22250400" y="0"/>
                  </a:lnTo>
                  <a:lnTo>
                    <a:pt x="22250400" y="850900"/>
                  </a:lnTo>
                  <a:lnTo>
                    <a:pt x="0" y="850900"/>
                  </a:lnTo>
                  <a:close/>
                </a:path>
              </a:pathLst>
            </a:custGeom>
            <a:solidFill>
              <a:srgbClr val="FFFFFF"/>
            </a:solidFill>
            <a:ln cap="sq">
              <a:noFill/>
              <a:prstDash val="solid"/>
              <a:miter/>
            </a:ln>
          </p:spPr>
          <p:txBody>
            <a:bodyPr/>
            <a:lstStyle/>
            <a:p>
              <a:endParaRPr lang="en-US"/>
            </a:p>
          </p:txBody>
        </p:sp>
        <p:sp>
          <p:nvSpPr>
            <p:cNvPr id="27" name="TextBox 27"/>
            <p:cNvSpPr txBox="1"/>
            <p:nvPr/>
          </p:nvSpPr>
          <p:spPr>
            <a:xfrm>
              <a:off x="0" y="-38100"/>
              <a:ext cx="22250400" cy="8890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895350" y="1862709"/>
            <a:ext cx="259080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SEGMENT</a:t>
            </a:r>
          </a:p>
        </p:txBody>
      </p:sp>
      <p:sp>
        <p:nvSpPr>
          <p:cNvPr id="29" name="TextBox 29"/>
          <p:cNvSpPr txBox="1"/>
          <p:nvPr/>
        </p:nvSpPr>
        <p:spPr>
          <a:xfrm>
            <a:off x="3752850" y="1862709"/>
            <a:ext cx="97155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N</a:t>
            </a:r>
          </a:p>
        </p:txBody>
      </p:sp>
      <p:sp>
        <p:nvSpPr>
          <p:cNvPr id="30" name="TextBox 30"/>
          <p:cNvSpPr txBox="1"/>
          <p:nvPr/>
        </p:nvSpPr>
        <p:spPr>
          <a:xfrm>
            <a:off x="4991100" y="1862709"/>
            <a:ext cx="125730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MEAN</a:t>
            </a:r>
          </a:p>
        </p:txBody>
      </p:sp>
      <p:sp>
        <p:nvSpPr>
          <p:cNvPr id="31" name="TextBox 31"/>
          <p:cNvSpPr txBox="1"/>
          <p:nvPr/>
        </p:nvSpPr>
        <p:spPr>
          <a:xfrm>
            <a:off x="6515100" y="1862709"/>
            <a:ext cx="144780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MEDIAN</a:t>
            </a:r>
          </a:p>
        </p:txBody>
      </p:sp>
      <p:sp>
        <p:nvSpPr>
          <p:cNvPr id="32" name="TextBox 32"/>
          <p:cNvSpPr txBox="1"/>
          <p:nvPr/>
        </p:nvSpPr>
        <p:spPr>
          <a:xfrm>
            <a:off x="8229600" y="1862709"/>
            <a:ext cx="211455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MIN–MAX</a:t>
            </a:r>
          </a:p>
        </p:txBody>
      </p:sp>
      <p:sp>
        <p:nvSpPr>
          <p:cNvPr id="33" name="TextBox 33"/>
          <p:cNvSpPr txBox="1"/>
          <p:nvPr/>
        </p:nvSpPr>
        <p:spPr>
          <a:xfrm>
            <a:off x="10706100" y="1862709"/>
            <a:ext cx="7467600" cy="222885"/>
          </a:xfrm>
          <a:prstGeom prst="rect">
            <a:avLst/>
          </a:prstGeom>
        </p:spPr>
        <p:txBody>
          <a:bodyPr lIns="0" tIns="0" rIns="0" bIns="0" rtlCol="0" anchor="t">
            <a:spAutoFit/>
          </a:bodyPr>
          <a:lstStyle/>
          <a:p>
            <a:pPr algn="l">
              <a:lnSpc>
                <a:spcPts val="1889"/>
              </a:lnSpc>
            </a:pPr>
            <a:r>
              <a:rPr lang="en-US" sz="1350" b="1">
                <a:solidFill>
                  <a:srgbClr val="FFFFFF"/>
                </a:solidFill>
                <a:latin typeface="Montserrat Bold"/>
                <a:ea typeface="Montserrat Bold"/>
                <a:cs typeface="Montserrat Bold"/>
                <a:sym typeface="Montserrat Bold"/>
              </a:rPr>
              <a:t>DISTRIBUTION</a:t>
            </a:r>
          </a:p>
        </p:txBody>
      </p:sp>
      <p:sp>
        <p:nvSpPr>
          <p:cNvPr id="34" name="TextBox 34"/>
          <p:cNvSpPr txBox="1"/>
          <p:nvPr/>
        </p:nvSpPr>
        <p:spPr>
          <a:xfrm>
            <a:off x="895350" y="2558034"/>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All hours</a:t>
            </a:r>
          </a:p>
        </p:txBody>
      </p:sp>
      <p:sp>
        <p:nvSpPr>
          <p:cNvPr id="35" name="TextBox 35"/>
          <p:cNvSpPr txBox="1"/>
          <p:nvPr/>
        </p:nvSpPr>
        <p:spPr>
          <a:xfrm>
            <a:off x="3752850" y="2558034"/>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17,379</a:t>
            </a:r>
          </a:p>
        </p:txBody>
      </p:sp>
      <p:sp>
        <p:nvSpPr>
          <p:cNvPr id="36" name="TextBox 36"/>
          <p:cNvSpPr txBox="1"/>
          <p:nvPr/>
        </p:nvSpPr>
        <p:spPr>
          <a:xfrm>
            <a:off x="4991100" y="2558034"/>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189.5</a:t>
            </a:r>
          </a:p>
        </p:txBody>
      </p:sp>
      <p:sp>
        <p:nvSpPr>
          <p:cNvPr id="37" name="TextBox 37"/>
          <p:cNvSpPr txBox="1"/>
          <p:nvPr/>
        </p:nvSpPr>
        <p:spPr>
          <a:xfrm>
            <a:off x="6515100" y="2558034"/>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142.0</a:t>
            </a:r>
          </a:p>
        </p:txBody>
      </p:sp>
      <p:sp>
        <p:nvSpPr>
          <p:cNvPr id="38" name="TextBox 38"/>
          <p:cNvSpPr txBox="1"/>
          <p:nvPr/>
        </p:nvSpPr>
        <p:spPr>
          <a:xfrm>
            <a:off x="8229600" y="2558034"/>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1–977</a:t>
            </a:r>
          </a:p>
        </p:txBody>
      </p:sp>
      <p:sp>
        <p:nvSpPr>
          <p:cNvPr id="39" name="TextBox 39"/>
          <p:cNvSpPr txBox="1"/>
          <p:nvPr/>
        </p:nvSpPr>
        <p:spPr>
          <a:xfrm>
            <a:off x="10706100" y="2558034"/>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181.4 · Right-skewed</a:t>
            </a:r>
          </a:p>
        </p:txBody>
      </p:sp>
      <p:sp>
        <p:nvSpPr>
          <p:cNvPr id="40" name="TextBox 40"/>
          <p:cNvSpPr txBox="1"/>
          <p:nvPr/>
        </p:nvSpPr>
        <p:spPr>
          <a:xfrm>
            <a:off x="895350" y="3253359"/>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Working day</a:t>
            </a:r>
          </a:p>
        </p:txBody>
      </p:sp>
      <p:sp>
        <p:nvSpPr>
          <p:cNvPr id="41" name="TextBox 41"/>
          <p:cNvSpPr txBox="1"/>
          <p:nvPr/>
        </p:nvSpPr>
        <p:spPr>
          <a:xfrm>
            <a:off x="3752850" y="3253359"/>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11,865</a:t>
            </a:r>
          </a:p>
        </p:txBody>
      </p:sp>
      <p:sp>
        <p:nvSpPr>
          <p:cNvPr id="42" name="TextBox 42"/>
          <p:cNvSpPr txBox="1"/>
          <p:nvPr/>
        </p:nvSpPr>
        <p:spPr>
          <a:xfrm>
            <a:off x="4991100" y="3253359"/>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193.2</a:t>
            </a:r>
          </a:p>
        </p:txBody>
      </p:sp>
      <p:sp>
        <p:nvSpPr>
          <p:cNvPr id="43" name="TextBox 43"/>
          <p:cNvSpPr txBox="1"/>
          <p:nvPr/>
        </p:nvSpPr>
        <p:spPr>
          <a:xfrm>
            <a:off x="6515100" y="3253359"/>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151.0</a:t>
            </a:r>
          </a:p>
        </p:txBody>
      </p:sp>
      <p:sp>
        <p:nvSpPr>
          <p:cNvPr id="44" name="TextBox 44"/>
          <p:cNvSpPr txBox="1"/>
          <p:nvPr/>
        </p:nvSpPr>
        <p:spPr>
          <a:xfrm>
            <a:off x="8229600" y="3253359"/>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1–977</a:t>
            </a:r>
          </a:p>
        </p:txBody>
      </p:sp>
      <p:sp>
        <p:nvSpPr>
          <p:cNvPr id="45" name="TextBox 45"/>
          <p:cNvSpPr txBox="1"/>
          <p:nvPr/>
        </p:nvSpPr>
        <p:spPr>
          <a:xfrm>
            <a:off x="10706100" y="3253359"/>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185.1 · Bimodal (08:00 &amp; 17:00)</a:t>
            </a:r>
          </a:p>
        </p:txBody>
      </p:sp>
      <p:sp>
        <p:nvSpPr>
          <p:cNvPr id="46" name="TextBox 46"/>
          <p:cNvSpPr txBox="1"/>
          <p:nvPr/>
        </p:nvSpPr>
        <p:spPr>
          <a:xfrm>
            <a:off x="895350" y="3948684"/>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Non-working</a:t>
            </a:r>
          </a:p>
        </p:txBody>
      </p:sp>
      <p:sp>
        <p:nvSpPr>
          <p:cNvPr id="47" name="TextBox 47"/>
          <p:cNvSpPr txBox="1"/>
          <p:nvPr/>
        </p:nvSpPr>
        <p:spPr>
          <a:xfrm>
            <a:off x="3752850" y="3948684"/>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5,514</a:t>
            </a:r>
          </a:p>
        </p:txBody>
      </p:sp>
      <p:sp>
        <p:nvSpPr>
          <p:cNvPr id="48" name="TextBox 48"/>
          <p:cNvSpPr txBox="1"/>
          <p:nvPr/>
        </p:nvSpPr>
        <p:spPr>
          <a:xfrm>
            <a:off x="4991100" y="3948684"/>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181.4</a:t>
            </a:r>
          </a:p>
        </p:txBody>
      </p:sp>
      <p:sp>
        <p:nvSpPr>
          <p:cNvPr id="49" name="TextBox 49"/>
          <p:cNvSpPr txBox="1"/>
          <p:nvPr/>
        </p:nvSpPr>
        <p:spPr>
          <a:xfrm>
            <a:off x="6515100" y="3948684"/>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119.0</a:t>
            </a:r>
          </a:p>
        </p:txBody>
      </p:sp>
      <p:sp>
        <p:nvSpPr>
          <p:cNvPr id="50" name="TextBox 50"/>
          <p:cNvSpPr txBox="1"/>
          <p:nvPr/>
        </p:nvSpPr>
        <p:spPr>
          <a:xfrm>
            <a:off x="8229600" y="3948684"/>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1–783</a:t>
            </a:r>
          </a:p>
        </p:txBody>
      </p:sp>
      <p:sp>
        <p:nvSpPr>
          <p:cNvPr id="51" name="TextBox 51"/>
          <p:cNvSpPr txBox="1"/>
          <p:nvPr/>
        </p:nvSpPr>
        <p:spPr>
          <a:xfrm>
            <a:off x="10706100" y="3948684"/>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172.9 · Midday plateau (12:00–14:00)</a:t>
            </a:r>
          </a:p>
        </p:txBody>
      </p:sp>
      <p:sp>
        <p:nvSpPr>
          <p:cNvPr id="52" name="TextBox 52"/>
          <p:cNvSpPr txBox="1"/>
          <p:nvPr/>
        </p:nvSpPr>
        <p:spPr>
          <a:xfrm>
            <a:off x="895350" y="4644009"/>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Spring</a:t>
            </a:r>
          </a:p>
        </p:txBody>
      </p:sp>
      <p:sp>
        <p:nvSpPr>
          <p:cNvPr id="53" name="TextBox 53"/>
          <p:cNvSpPr txBox="1"/>
          <p:nvPr/>
        </p:nvSpPr>
        <p:spPr>
          <a:xfrm>
            <a:off x="3752850" y="4644009"/>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4,242</a:t>
            </a:r>
          </a:p>
        </p:txBody>
      </p:sp>
      <p:sp>
        <p:nvSpPr>
          <p:cNvPr id="54" name="TextBox 54"/>
          <p:cNvSpPr txBox="1"/>
          <p:nvPr/>
        </p:nvSpPr>
        <p:spPr>
          <a:xfrm>
            <a:off x="4991100" y="4644009"/>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111.1</a:t>
            </a:r>
          </a:p>
        </p:txBody>
      </p:sp>
      <p:sp>
        <p:nvSpPr>
          <p:cNvPr id="55" name="TextBox 55"/>
          <p:cNvSpPr txBox="1"/>
          <p:nvPr/>
        </p:nvSpPr>
        <p:spPr>
          <a:xfrm>
            <a:off x="6515100" y="4644009"/>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76.0</a:t>
            </a:r>
          </a:p>
        </p:txBody>
      </p:sp>
      <p:sp>
        <p:nvSpPr>
          <p:cNvPr id="56" name="TextBox 56"/>
          <p:cNvSpPr txBox="1"/>
          <p:nvPr/>
        </p:nvSpPr>
        <p:spPr>
          <a:xfrm>
            <a:off x="8229600" y="4644009"/>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1–801</a:t>
            </a:r>
          </a:p>
        </p:txBody>
      </p:sp>
      <p:sp>
        <p:nvSpPr>
          <p:cNvPr id="57" name="TextBox 57"/>
          <p:cNvSpPr txBox="1"/>
          <p:nvPr/>
        </p:nvSpPr>
        <p:spPr>
          <a:xfrm>
            <a:off x="10706100" y="4644009"/>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119.2 · Lowest baseline (floor 58.7/hr)</a:t>
            </a:r>
          </a:p>
        </p:txBody>
      </p:sp>
      <p:sp>
        <p:nvSpPr>
          <p:cNvPr id="58" name="TextBox 58"/>
          <p:cNvSpPr txBox="1"/>
          <p:nvPr/>
        </p:nvSpPr>
        <p:spPr>
          <a:xfrm>
            <a:off x="895350" y="5339334"/>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Summer</a:t>
            </a:r>
          </a:p>
        </p:txBody>
      </p:sp>
      <p:sp>
        <p:nvSpPr>
          <p:cNvPr id="59" name="TextBox 59"/>
          <p:cNvSpPr txBox="1"/>
          <p:nvPr/>
        </p:nvSpPr>
        <p:spPr>
          <a:xfrm>
            <a:off x="3752850" y="5339334"/>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4,409</a:t>
            </a:r>
          </a:p>
        </p:txBody>
      </p:sp>
      <p:sp>
        <p:nvSpPr>
          <p:cNvPr id="60" name="TextBox 60"/>
          <p:cNvSpPr txBox="1"/>
          <p:nvPr/>
        </p:nvSpPr>
        <p:spPr>
          <a:xfrm>
            <a:off x="4991100" y="5339334"/>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208.3</a:t>
            </a:r>
          </a:p>
        </p:txBody>
      </p:sp>
      <p:sp>
        <p:nvSpPr>
          <p:cNvPr id="61" name="TextBox 61"/>
          <p:cNvSpPr txBox="1"/>
          <p:nvPr/>
        </p:nvSpPr>
        <p:spPr>
          <a:xfrm>
            <a:off x="6515100" y="5339334"/>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165.0</a:t>
            </a:r>
          </a:p>
        </p:txBody>
      </p:sp>
      <p:sp>
        <p:nvSpPr>
          <p:cNvPr id="62" name="TextBox 62"/>
          <p:cNvSpPr txBox="1"/>
          <p:nvPr/>
        </p:nvSpPr>
        <p:spPr>
          <a:xfrm>
            <a:off x="8229600" y="5339334"/>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1–957</a:t>
            </a:r>
          </a:p>
        </p:txBody>
      </p:sp>
      <p:sp>
        <p:nvSpPr>
          <p:cNvPr id="63" name="TextBox 63"/>
          <p:cNvSpPr txBox="1"/>
          <p:nvPr/>
        </p:nvSpPr>
        <p:spPr>
          <a:xfrm>
            <a:off x="10706100" y="5339334"/>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188.4 · Wide IQR, surges &gt;800/hr</a:t>
            </a:r>
          </a:p>
        </p:txBody>
      </p:sp>
      <p:sp>
        <p:nvSpPr>
          <p:cNvPr id="64" name="TextBox 64"/>
          <p:cNvSpPr txBox="1"/>
          <p:nvPr/>
        </p:nvSpPr>
        <p:spPr>
          <a:xfrm>
            <a:off x="895350" y="6034659"/>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Fall</a:t>
            </a:r>
          </a:p>
        </p:txBody>
      </p:sp>
      <p:sp>
        <p:nvSpPr>
          <p:cNvPr id="65" name="TextBox 65"/>
          <p:cNvSpPr txBox="1"/>
          <p:nvPr/>
        </p:nvSpPr>
        <p:spPr>
          <a:xfrm>
            <a:off x="3752850" y="6034659"/>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4,496</a:t>
            </a:r>
          </a:p>
        </p:txBody>
      </p:sp>
      <p:sp>
        <p:nvSpPr>
          <p:cNvPr id="66" name="TextBox 66"/>
          <p:cNvSpPr txBox="1"/>
          <p:nvPr/>
        </p:nvSpPr>
        <p:spPr>
          <a:xfrm>
            <a:off x="4991100" y="6034659"/>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236.0</a:t>
            </a:r>
          </a:p>
        </p:txBody>
      </p:sp>
      <p:sp>
        <p:nvSpPr>
          <p:cNvPr id="67" name="TextBox 67"/>
          <p:cNvSpPr txBox="1"/>
          <p:nvPr/>
        </p:nvSpPr>
        <p:spPr>
          <a:xfrm>
            <a:off x="6515100" y="6034659"/>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199.0</a:t>
            </a:r>
          </a:p>
        </p:txBody>
      </p:sp>
      <p:sp>
        <p:nvSpPr>
          <p:cNvPr id="68" name="TextBox 68"/>
          <p:cNvSpPr txBox="1"/>
          <p:nvPr/>
        </p:nvSpPr>
        <p:spPr>
          <a:xfrm>
            <a:off x="8229600" y="6034659"/>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1–977</a:t>
            </a:r>
          </a:p>
        </p:txBody>
      </p:sp>
      <p:sp>
        <p:nvSpPr>
          <p:cNvPr id="69" name="TextBox 69"/>
          <p:cNvSpPr txBox="1"/>
          <p:nvPr/>
        </p:nvSpPr>
        <p:spPr>
          <a:xfrm>
            <a:off x="10706100" y="6034659"/>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197.7 · Highest mean (clear 244.5/hr)</a:t>
            </a:r>
          </a:p>
        </p:txBody>
      </p:sp>
      <p:sp>
        <p:nvSpPr>
          <p:cNvPr id="70" name="TextBox 70"/>
          <p:cNvSpPr txBox="1"/>
          <p:nvPr/>
        </p:nvSpPr>
        <p:spPr>
          <a:xfrm>
            <a:off x="895350" y="6729984"/>
            <a:ext cx="2590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Winter</a:t>
            </a:r>
          </a:p>
        </p:txBody>
      </p:sp>
      <p:sp>
        <p:nvSpPr>
          <p:cNvPr id="71" name="TextBox 71"/>
          <p:cNvSpPr txBox="1"/>
          <p:nvPr/>
        </p:nvSpPr>
        <p:spPr>
          <a:xfrm>
            <a:off x="3752850" y="6729984"/>
            <a:ext cx="971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4,232</a:t>
            </a:r>
          </a:p>
        </p:txBody>
      </p:sp>
      <p:sp>
        <p:nvSpPr>
          <p:cNvPr id="72" name="TextBox 72"/>
          <p:cNvSpPr txBox="1"/>
          <p:nvPr/>
        </p:nvSpPr>
        <p:spPr>
          <a:xfrm>
            <a:off x="4991100" y="6729984"/>
            <a:ext cx="12573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198.9</a:t>
            </a:r>
          </a:p>
        </p:txBody>
      </p:sp>
      <p:sp>
        <p:nvSpPr>
          <p:cNvPr id="73" name="TextBox 73"/>
          <p:cNvSpPr txBox="1"/>
          <p:nvPr/>
        </p:nvSpPr>
        <p:spPr>
          <a:xfrm>
            <a:off x="6515100" y="6729984"/>
            <a:ext cx="14478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155.5</a:t>
            </a:r>
          </a:p>
        </p:txBody>
      </p:sp>
      <p:sp>
        <p:nvSpPr>
          <p:cNvPr id="74" name="TextBox 74"/>
          <p:cNvSpPr txBox="1"/>
          <p:nvPr/>
        </p:nvSpPr>
        <p:spPr>
          <a:xfrm>
            <a:off x="8229600" y="6729984"/>
            <a:ext cx="211455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1–967</a:t>
            </a:r>
          </a:p>
        </p:txBody>
      </p:sp>
      <p:sp>
        <p:nvSpPr>
          <p:cNvPr id="75" name="TextBox 75"/>
          <p:cNvSpPr txBox="1"/>
          <p:nvPr/>
        </p:nvSpPr>
        <p:spPr>
          <a:xfrm>
            <a:off x="10706100" y="6729984"/>
            <a:ext cx="7467600" cy="230505"/>
          </a:xfrm>
          <a:prstGeom prst="rect">
            <a:avLst/>
          </a:prstGeom>
        </p:spPr>
        <p:txBody>
          <a:bodyPr lIns="0" tIns="0" rIns="0" bIns="0" rtlCol="0" anchor="t">
            <a:spAutoFit/>
          </a:bodyPr>
          <a:lstStyle/>
          <a:p>
            <a:pPr algn="l">
              <a:lnSpc>
                <a:spcPts val="1995"/>
              </a:lnSpc>
            </a:pPr>
            <a:r>
              <a:rPr lang="en-US" sz="1425">
                <a:solidFill>
                  <a:srgbClr val="14243A"/>
                </a:solidFill>
                <a:latin typeface="DM Sans"/>
                <a:ea typeface="DM Sans"/>
                <a:cs typeface="DM Sans"/>
                <a:sym typeface="DM Sans"/>
              </a:rPr>
              <a:t>SD 183.0 · Clear (209.5) &gt; Fall rain (172.0)</a:t>
            </a:r>
          </a:p>
        </p:txBody>
      </p:sp>
      <p:sp>
        <p:nvSpPr>
          <p:cNvPr id="76" name="TextBox 76"/>
          <p:cNvSpPr txBox="1"/>
          <p:nvPr/>
        </p:nvSpPr>
        <p:spPr>
          <a:xfrm>
            <a:off x="800100" y="7568184"/>
            <a:ext cx="16687800" cy="235839"/>
          </a:xfrm>
          <a:prstGeom prst="rect">
            <a:avLst/>
          </a:prstGeom>
        </p:spPr>
        <p:txBody>
          <a:bodyPr lIns="0" tIns="0" rIns="0" bIns="0" rtlCol="0" anchor="t">
            <a:spAutoFit/>
          </a:bodyPr>
          <a:lstStyle/>
          <a:p>
            <a:pPr algn="l">
              <a:lnSpc>
                <a:spcPts val="1863"/>
              </a:lnSpc>
            </a:pPr>
            <a:r>
              <a:rPr lang="en-US" sz="1725" b="1">
                <a:solidFill>
                  <a:srgbClr val="14243A"/>
                </a:solidFill>
                <a:latin typeface="Montserrat Bold"/>
                <a:ea typeface="Montserrat Bold"/>
                <a:cs typeface="Montserrat Bold"/>
                <a:sym typeface="Montserrat Bold"/>
              </a:rPr>
              <a:t>NEXT  →  critique A + Fig 4   ·   critique B + Fig 5   ·   weather–season matrix Fig 6</a:t>
            </a: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Why Supplied Chart A fails perceptually</a:t>
            </a:r>
          </a:p>
        </p:txBody>
      </p:sp>
      <p:sp>
        <p:nvSpPr>
          <p:cNvPr id="3" name="TextBox 3"/>
          <p:cNvSpPr txBox="1"/>
          <p:nvPr/>
        </p:nvSpPr>
        <p:spPr>
          <a:xfrm>
            <a:off x="800100" y="1702689"/>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Critique of Supplied Chart A · 24-slice pie chart of hourly bike demand (N = 17,379)</a:t>
            </a:r>
          </a:p>
        </p:txBody>
      </p:sp>
      <p:sp>
        <p:nvSpPr>
          <p:cNvPr id="4" name="Freeform 4"/>
          <p:cNvSpPr/>
          <p:nvPr/>
        </p:nvSpPr>
        <p:spPr>
          <a:xfrm>
            <a:off x="618029" y="2091309"/>
            <a:ext cx="8265927" cy="6876402"/>
          </a:xfrm>
          <a:custGeom>
            <a:avLst/>
            <a:gdLst/>
            <a:ahLst/>
            <a:cxnLst/>
            <a:rect l="l" t="t" r="r" b="b"/>
            <a:pathLst>
              <a:path w="8265927" h="6876402">
                <a:moveTo>
                  <a:pt x="0" y="0"/>
                </a:moveTo>
                <a:lnTo>
                  <a:pt x="8265928" y="0"/>
                </a:lnTo>
                <a:lnTo>
                  <a:pt x="8265928" y="6876402"/>
                </a:lnTo>
                <a:lnTo>
                  <a:pt x="0" y="6876402"/>
                </a:lnTo>
                <a:lnTo>
                  <a:pt x="0" y="0"/>
                </a:lnTo>
                <a:close/>
              </a:path>
            </a:pathLst>
          </a:custGeom>
          <a:blipFill>
            <a:blip r:embed="rId3"/>
            <a:stretch>
              <a:fillRect l="-1458" t="-10981" b="-15425"/>
            </a:stretch>
          </a:blipFill>
          <a:ln cap="sq">
            <a:noFill/>
            <a:prstDash val="solid"/>
            <a:miter/>
          </a:ln>
        </p:spPr>
        <p:txBody>
          <a:bodyPr/>
          <a:lstStyle/>
          <a:p>
            <a:endParaRPr lang="en-US"/>
          </a:p>
        </p:txBody>
      </p:sp>
      <p:grpSp>
        <p:nvGrpSpPr>
          <p:cNvPr id="5" name="Group 5"/>
          <p:cNvGrpSpPr/>
          <p:nvPr/>
        </p:nvGrpSpPr>
        <p:grpSpPr>
          <a:xfrm>
            <a:off x="12420600" y="2224659"/>
            <a:ext cx="5067300" cy="6572250"/>
            <a:chOff x="0" y="0"/>
            <a:chExt cx="5537200" cy="8763000"/>
          </a:xfrm>
        </p:grpSpPr>
        <p:sp>
          <p:nvSpPr>
            <p:cNvPr id="6" name="Freeform 6"/>
            <p:cNvSpPr/>
            <p:nvPr/>
          </p:nvSpPr>
          <p:spPr>
            <a:xfrm>
              <a:off x="0" y="0"/>
              <a:ext cx="5537200" cy="8763000"/>
            </a:xfrm>
            <a:custGeom>
              <a:avLst/>
              <a:gdLst/>
              <a:ahLst/>
              <a:cxnLst/>
              <a:rect l="l" t="t" r="r" b="b"/>
              <a:pathLst>
                <a:path w="5537200" h="8763000">
                  <a:moveTo>
                    <a:pt x="0" y="0"/>
                  </a:moveTo>
                  <a:lnTo>
                    <a:pt x="5537200" y="0"/>
                  </a:lnTo>
                  <a:lnTo>
                    <a:pt x="5537200" y="8763000"/>
                  </a:lnTo>
                  <a:lnTo>
                    <a:pt x="0" y="8763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537200" cy="880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2458699" y="2349601"/>
            <a:ext cx="5029200" cy="3179909"/>
          </a:xfrm>
          <a:prstGeom prst="rect">
            <a:avLst/>
          </a:prstGeom>
        </p:spPr>
        <p:txBody>
          <a:bodyPr wrap="square" lIns="0" tIns="0" rIns="0" bIns="0" rtlCol="0" anchor="t">
            <a:spAutoFit/>
          </a:bodyPr>
          <a:lstStyle/>
          <a:p>
            <a:pPr algn="l">
              <a:lnSpc>
                <a:spcPts val="1863"/>
              </a:lnSpc>
            </a:pPr>
            <a:r>
              <a:rPr lang="en-US" sz="1725" b="1" dirty="0">
                <a:solidFill>
                  <a:srgbClr val="14243A"/>
                </a:solidFill>
                <a:latin typeface="Montserrat Bold"/>
                <a:ea typeface="Montserrat Bold"/>
                <a:cs typeface="Montserrat Bold"/>
                <a:sym typeface="Montserrat Bold"/>
              </a:rPr>
              <a:t>WHY THE 24-SLICE PIE FAILED</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Violates Stevens' Power Law: Human vision cannot accurately rank or compare 24 radial angles and slice areas.</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Severe label collisions: Night hours (00:00–05:00, &lt;1% volume each) jam together into illegible overlapping text.</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Aggregation blindness: Pooling all 731 days hides weekday commute spikes vs. weekend leisure curves.</a:t>
            </a:r>
          </a:p>
        </p:txBody>
      </p:sp>
      <p:sp>
        <p:nvSpPr>
          <p:cNvPr id="9" name="TextBox 9"/>
          <p:cNvSpPr txBox="1"/>
          <p:nvPr/>
        </p:nvSpPr>
        <p:spPr>
          <a:xfrm>
            <a:off x="12477750" y="6515100"/>
            <a:ext cx="4953000" cy="1041952"/>
          </a:xfrm>
          <a:prstGeom prst="rect">
            <a:avLst/>
          </a:prstGeom>
        </p:spPr>
        <p:txBody>
          <a:bodyPr wrap="square" lIns="0" tIns="0" rIns="0" bIns="0" rtlCol="0" anchor="t">
            <a:spAutoFit/>
          </a:bodyPr>
          <a:lstStyle/>
          <a:p>
            <a:pPr>
              <a:lnSpc>
                <a:spcPts val="1863"/>
              </a:lnSpc>
            </a:pPr>
            <a:r>
              <a:rPr lang="en-US" sz="1725" b="1" dirty="0">
                <a:solidFill>
                  <a:srgbClr val="14243A"/>
                </a:solidFill>
                <a:latin typeface="Montserrat Bold"/>
                <a:sym typeface="DM Sans"/>
              </a:rPr>
              <a:t>REDESIGN REQUIREMENT</a:t>
            </a:r>
          </a:p>
          <a:p>
            <a:pPr algn="l">
              <a:lnSpc>
                <a:spcPts val="2126"/>
              </a:lnSpc>
            </a:pPr>
            <a:r>
              <a:rPr lang="en-US" sz="1575" dirty="0">
                <a:solidFill>
                  <a:srgbClr val="14243A"/>
                </a:solidFill>
                <a:latin typeface="DM Sans"/>
                <a:ea typeface="DM Sans"/>
                <a:cs typeface="DM Sans"/>
                <a:sym typeface="DM Sans"/>
              </a:rPr>
              <a:t>Map all 24 hours onto a zero-anchored Cartesian scale decomposed by </a:t>
            </a:r>
            <a:r>
              <a:rPr lang="en-US" sz="1575" dirty="0" err="1">
                <a:solidFill>
                  <a:srgbClr val="14243A"/>
                </a:solidFill>
                <a:latin typeface="DM Sans"/>
                <a:ea typeface="DM Sans"/>
                <a:cs typeface="DM Sans"/>
                <a:sym typeface="DM Sans"/>
              </a:rPr>
              <a:t>workingday</a:t>
            </a:r>
            <a:r>
              <a:rPr lang="en-US" sz="1575" dirty="0">
                <a:solidFill>
                  <a:srgbClr val="14243A"/>
                </a:solidFill>
                <a:latin typeface="DM Sans"/>
                <a:ea typeface="DM Sans"/>
                <a:cs typeface="DM Sans"/>
                <a:sym typeface="DM Sans"/>
              </a:rPr>
              <a:t> (0 vs. 1) with double-encoded markers.</a:t>
            </a: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304800" y="571500"/>
            <a:ext cx="17183100" cy="500137"/>
          </a:xfrm>
          <a:prstGeom prst="rect">
            <a:avLst/>
          </a:prstGeom>
        </p:spPr>
        <p:txBody>
          <a:bodyPr wrap="square"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Move Bikes to Metro Stations on Weekdays, and to Parks on Weekends</a:t>
            </a:r>
          </a:p>
        </p:txBody>
      </p:sp>
      <p:sp>
        <p:nvSpPr>
          <p:cNvPr id="4" name="Freeform 4"/>
          <p:cNvSpPr/>
          <p:nvPr/>
        </p:nvSpPr>
        <p:spPr>
          <a:xfrm>
            <a:off x="304800" y="2153854"/>
            <a:ext cx="12763500" cy="6643055"/>
          </a:xfrm>
          <a:custGeom>
            <a:avLst/>
            <a:gdLst/>
            <a:ahLst/>
            <a:cxnLst/>
            <a:rect l="l" t="t" r="r" b="b"/>
            <a:pathLst>
              <a:path w="12192000" h="6643055">
                <a:moveTo>
                  <a:pt x="0" y="0"/>
                </a:moveTo>
                <a:lnTo>
                  <a:pt x="12192000" y="0"/>
                </a:lnTo>
                <a:lnTo>
                  <a:pt x="12192000" y="6643055"/>
                </a:lnTo>
                <a:lnTo>
                  <a:pt x="0" y="6643055"/>
                </a:lnTo>
                <a:lnTo>
                  <a:pt x="0" y="0"/>
                </a:lnTo>
                <a:close/>
              </a:path>
            </a:pathLst>
          </a:custGeom>
          <a:blipFill>
            <a:blip r:embed="rId3">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3335000" y="2224659"/>
            <a:ext cx="4152900" cy="6572250"/>
            <a:chOff x="0" y="0"/>
            <a:chExt cx="5537200" cy="8763000"/>
          </a:xfrm>
        </p:grpSpPr>
        <p:sp>
          <p:nvSpPr>
            <p:cNvPr id="6" name="Freeform 6"/>
            <p:cNvSpPr/>
            <p:nvPr/>
          </p:nvSpPr>
          <p:spPr>
            <a:xfrm>
              <a:off x="0" y="0"/>
              <a:ext cx="5537200" cy="8763000"/>
            </a:xfrm>
            <a:custGeom>
              <a:avLst/>
              <a:gdLst/>
              <a:ahLst/>
              <a:cxnLst/>
              <a:rect l="l" t="t" r="r" b="b"/>
              <a:pathLst>
                <a:path w="5537200" h="8763000">
                  <a:moveTo>
                    <a:pt x="0" y="0"/>
                  </a:moveTo>
                  <a:lnTo>
                    <a:pt x="5537200" y="0"/>
                  </a:lnTo>
                  <a:lnTo>
                    <a:pt x="5537200" y="8763000"/>
                  </a:lnTo>
                  <a:lnTo>
                    <a:pt x="0" y="8763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537200" cy="880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335001" y="2324100"/>
            <a:ext cx="4152899" cy="4641848"/>
          </a:xfrm>
          <a:prstGeom prst="rect">
            <a:avLst/>
          </a:prstGeom>
        </p:spPr>
        <p:txBody>
          <a:bodyPr wrap="square" lIns="0" tIns="0" rIns="0" bIns="0" rtlCol="0" anchor="t">
            <a:spAutoFit/>
          </a:bodyPr>
          <a:lstStyle/>
          <a:p>
            <a:pPr algn="l">
              <a:lnSpc>
                <a:spcPts val="1863"/>
              </a:lnSpc>
            </a:pPr>
            <a:r>
              <a:rPr lang="en-US" sz="1725" b="1" dirty="0">
                <a:solidFill>
                  <a:srgbClr val="14243A"/>
                </a:solidFill>
                <a:latin typeface="Montserrat Bold"/>
                <a:ea typeface="Montserrat Bold"/>
                <a:cs typeface="Montserrat Bold"/>
                <a:sym typeface="Montserrat Bold"/>
              </a:rPr>
              <a:t>DOUBLE-ENCODED REDESIGN</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Working Days (• Solid Blue, N = 11,865): Sharp bimodal rush-hour peaks separated by a midday trough (135.4–201.3/</a:t>
            </a:r>
            <a:r>
              <a:rPr lang="en-US" sz="2000" dirty="0" err="1">
                <a:solidFill>
                  <a:srgbClr val="14243A"/>
                </a:solidFill>
                <a:latin typeface="DM Sans" pitchFamily="2" charset="0"/>
                <a:ea typeface="Montserrat Bold"/>
                <a:cs typeface="Montserrat Bold"/>
                <a:sym typeface="Montserrat Bold"/>
              </a:rPr>
              <a:t>hr</a:t>
            </a:r>
            <a:r>
              <a:rPr lang="en-US" sz="2000" dirty="0">
                <a:solidFill>
                  <a:srgbClr val="14243A"/>
                </a:solidFill>
                <a:latin typeface="DM Sans" pitchFamily="2" charset="0"/>
                <a:ea typeface="Montserrat Bold"/>
                <a:cs typeface="Montserrat Bold"/>
                <a:sym typeface="Montserrat Bold"/>
              </a:rPr>
              <a:t>).</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Non-Working Days (■ Dashed Orange, N = 5,514): Smooth unimodal leisure curve across midday hours.</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1725" b="1" dirty="0">
                <a:solidFill>
                  <a:srgbClr val="14243A"/>
                </a:solidFill>
                <a:latin typeface="Montserrat Bold"/>
                <a:ea typeface="Montserrat Bold"/>
                <a:cs typeface="Montserrat Bold"/>
                <a:sym typeface="Montserrat Bold"/>
              </a:rPr>
              <a:t>OPERATIONAL READOUT</a:t>
            </a:r>
          </a:p>
          <a:p>
            <a:pPr algn="l">
              <a:lnSpc>
                <a:spcPts val="1863"/>
              </a:lnSpc>
            </a:pPr>
            <a:r>
              <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08:00 = 477.0 rides/</a:t>
            </a:r>
            <a:r>
              <a:rPr lang="en-US" sz="2000" dirty="0" err="1">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hr</a:t>
            </a:r>
            <a:r>
              <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 (Morning Peak)</a:t>
            </a:r>
          </a:p>
          <a:p>
            <a:pPr algn="l">
              <a:lnSpc>
                <a:spcPts val="1863"/>
              </a:lnSpc>
            </a:pPr>
            <a:r>
              <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17:00 = 525.3 rides/</a:t>
            </a:r>
            <a:r>
              <a:rPr lang="en-US" sz="2000" dirty="0" err="1">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hr</a:t>
            </a:r>
            <a:r>
              <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 (Evening Peak)</a:t>
            </a:r>
          </a:p>
          <a:p>
            <a:pPr algn="l">
              <a:lnSpc>
                <a:spcPts val="1863"/>
              </a:lnSpc>
            </a:pPr>
            <a:r>
              <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Weekend 12:00–14:00 ≈ 372.7 rides/</a:t>
            </a:r>
            <a:r>
              <a:rPr lang="en-US" sz="2000" dirty="0" err="1">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rPr>
              <a:t>hr</a:t>
            </a:r>
            <a:endParaRPr lang="en-US" sz="2000" dirty="0">
              <a:solidFill>
                <a:srgbClr val="14243A"/>
              </a:solidFill>
              <a:latin typeface="DM Sans" pitchFamily="2" charset="0"/>
              <a:ea typeface="Sans Serif Collection" panose="020B0502040504020204" pitchFamily="34" charset="0"/>
              <a:cs typeface="Sans Serif Collection" panose="020B0502040504020204" pitchFamily="34" charset="0"/>
              <a:sym typeface="Montserrat Bold"/>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Why Supplied Chart B distorts seasonal ratios</a:t>
            </a:r>
          </a:p>
        </p:txBody>
      </p:sp>
      <p:sp>
        <p:nvSpPr>
          <p:cNvPr id="3" name="TextBox 3"/>
          <p:cNvSpPr txBox="1"/>
          <p:nvPr/>
        </p:nvSpPr>
        <p:spPr>
          <a:xfrm>
            <a:off x="800100" y="1702689"/>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Critique of Supplied Chart B · Truncated bar chart starting at y = 110 (N = 17,379)</a:t>
            </a:r>
          </a:p>
        </p:txBody>
      </p:sp>
      <p:sp>
        <p:nvSpPr>
          <p:cNvPr id="4" name="Freeform 4"/>
          <p:cNvSpPr/>
          <p:nvPr/>
        </p:nvSpPr>
        <p:spPr>
          <a:xfrm>
            <a:off x="870905" y="2091309"/>
            <a:ext cx="9100876" cy="6886407"/>
          </a:xfrm>
          <a:custGeom>
            <a:avLst/>
            <a:gdLst/>
            <a:ahLst/>
            <a:cxnLst/>
            <a:rect l="l" t="t" r="r" b="b"/>
            <a:pathLst>
              <a:path w="9100876" h="6886407">
                <a:moveTo>
                  <a:pt x="0" y="0"/>
                </a:moveTo>
                <a:lnTo>
                  <a:pt x="9100876" y="0"/>
                </a:lnTo>
                <a:lnTo>
                  <a:pt x="9100876" y="6886407"/>
                </a:lnTo>
                <a:lnTo>
                  <a:pt x="0" y="6886407"/>
                </a:lnTo>
                <a:lnTo>
                  <a:pt x="0" y="0"/>
                </a:lnTo>
                <a:close/>
              </a:path>
            </a:pathLst>
          </a:custGeom>
          <a:blipFill>
            <a:blip r:embed="rId3"/>
            <a:stretch>
              <a:fillRect l="-844" t="-1084" r="-1000" b="-38853"/>
            </a:stretch>
          </a:blipFill>
          <a:ln cap="sq">
            <a:noFill/>
            <a:prstDash val="solid"/>
            <a:miter/>
          </a:ln>
        </p:spPr>
        <p:txBody>
          <a:bodyPr/>
          <a:lstStyle/>
          <a:p>
            <a:endParaRPr lang="en-US"/>
          </a:p>
        </p:txBody>
      </p:sp>
      <p:grpSp>
        <p:nvGrpSpPr>
          <p:cNvPr id="5" name="Group 5"/>
          <p:cNvGrpSpPr/>
          <p:nvPr/>
        </p:nvGrpSpPr>
        <p:grpSpPr>
          <a:xfrm>
            <a:off x="12496800" y="2224659"/>
            <a:ext cx="4991100" cy="6572250"/>
            <a:chOff x="0" y="0"/>
            <a:chExt cx="5537200" cy="8763000"/>
          </a:xfrm>
        </p:grpSpPr>
        <p:sp>
          <p:nvSpPr>
            <p:cNvPr id="6" name="Freeform 6"/>
            <p:cNvSpPr/>
            <p:nvPr/>
          </p:nvSpPr>
          <p:spPr>
            <a:xfrm>
              <a:off x="0" y="0"/>
              <a:ext cx="5537200" cy="8763000"/>
            </a:xfrm>
            <a:custGeom>
              <a:avLst/>
              <a:gdLst/>
              <a:ahLst/>
              <a:cxnLst/>
              <a:rect l="l" t="t" r="r" b="b"/>
              <a:pathLst>
                <a:path w="5537200" h="8763000">
                  <a:moveTo>
                    <a:pt x="0" y="0"/>
                  </a:moveTo>
                  <a:lnTo>
                    <a:pt x="5537200" y="0"/>
                  </a:lnTo>
                  <a:lnTo>
                    <a:pt x="5537200" y="8763000"/>
                  </a:lnTo>
                  <a:lnTo>
                    <a:pt x="0" y="8763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537200" cy="880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2725400" y="2472309"/>
            <a:ext cx="4371975" cy="3667222"/>
          </a:xfrm>
          <a:prstGeom prst="rect">
            <a:avLst/>
          </a:prstGeom>
        </p:spPr>
        <p:txBody>
          <a:bodyPr wrap="square" lIns="0" tIns="0" rIns="0" bIns="0" rtlCol="0" anchor="t">
            <a:spAutoFit/>
          </a:bodyPr>
          <a:lstStyle/>
          <a:p>
            <a:pPr>
              <a:lnSpc>
                <a:spcPts val="1863"/>
              </a:lnSpc>
            </a:pPr>
            <a:r>
              <a:rPr lang="en-US" sz="1725" b="1" dirty="0">
                <a:solidFill>
                  <a:srgbClr val="14243A"/>
                </a:solidFill>
                <a:latin typeface="Montserrat Bold"/>
                <a:sym typeface="Montserrat Bold"/>
              </a:rPr>
              <a:t>WHY THE TRUNCATED BAR FAILED</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Severe Lie Factor (y-axis starts at 110): Season 1 (111.1/</a:t>
            </a:r>
            <a:r>
              <a:rPr lang="en-US" sz="2000" dirty="0" err="1">
                <a:solidFill>
                  <a:srgbClr val="14243A"/>
                </a:solidFill>
                <a:latin typeface="DM Sans" pitchFamily="2" charset="0"/>
                <a:ea typeface="Montserrat Bold"/>
                <a:cs typeface="Montserrat Bold"/>
                <a:sym typeface="Montserrat Bold"/>
              </a:rPr>
              <a:t>hr</a:t>
            </a:r>
            <a:r>
              <a:rPr lang="en-US" sz="2000" dirty="0">
                <a:solidFill>
                  <a:srgbClr val="14243A"/>
                </a:solidFill>
                <a:latin typeface="DM Sans" pitchFamily="2" charset="0"/>
                <a:ea typeface="Montserrat Bold"/>
                <a:cs typeface="Montserrat Bold"/>
                <a:sym typeface="Montserrat Bold"/>
              </a:rPr>
              <a:t>) looks nearly zero-height, making Season 3 (236.0/</a:t>
            </a:r>
            <a:r>
              <a:rPr lang="en-US" sz="2000" dirty="0" err="1">
                <a:solidFill>
                  <a:srgbClr val="14243A"/>
                </a:solidFill>
                <a:latin typeface="DM Sans" pitchFamily="2" charset="0"/>
                <a:ea typeface="Montserrat Bold"/>
                <a:cs typeface="Montserrat Bold"/>
                <a:sym typeface="Montserrat Bold"/>
              </a:rPr>
              <a:t>hr</a:t>
            </a:r>
            <a:r>
              <a:rPr lang="en-US" sz="2000" dirty="0">
                <a:solidFill>
                  <a:srgbClr val="14243A"/>
                </a:solidFill>
                <a:latin typeface="DM Sans" pitchFamily="2" charset="0"/>
                <a:ea typeface="Montserrat Bold"/>
                <a:cs typeface="Montserrat Bold"/>
                <a:sym typeface="Montserrat Bold"/>
              </a:rPr>
              <a:t>) look ~10x taller instead of the true 2.1x ratio.</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Conceals variance &amp; outliers: Single-value bars hide IQR spread, skewness, and peak surges (&gt;800–977/</a:t>
            </a:r>
            <a:r>
              <a:rPr lang="en-US" sz="2000" dirty="0" err="1">
                <a:solidFill>
                  <a:srgbClr val="14243A"/>
                </a:solidFill>
                <a:latin typeface="DM Sans" pitchFamily="2" charset="0"/>
                <a:ea typeface="Montserrat Bold"/>
                <a:cs typeface="Montserrat Bold"/>
                <a:sym typeface="Montserrat Bold"/>
              </a:rPr>
              <a:t>hr</a:t>
            </a:r>
            <a:r>
              <a:rPr lang="en-US" sz="2000" dirty="0">
                <a:solidFill>
                  <a:srgbClr val="14243A"/>
                </a:solidFill>
                <a:latin typeface="DM Sans" pitchFamily="2" charset="0"/>
                <a:ea typeface="Montserrat Bold"/>
                <a:cs typeface="Montserrat Bold"/>
                <a:sym typeface="Montserrat Bold"/>
              </a:rPr>
              <a:t>).</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Unmapped numeric codes: Raw 1–4 x-axis labels increase cognitive load.</a:t>
            </a:r>
          </a:p>
        </p:txBody>
      </p:sp>
      <p:sp>
        <p:nvSpPr>
          <p:cNvPr id="9" name="TextBox 9"/>
          <p:cNvSpPr txBox="1"/>
          <p:nvPr/>
        </p:nvSpPr>
        <p:spPr>
          <a:xfrm>
            <a:off x="12573000" y="6832473"/>
            <a:ext cx="4552950" cy="1326838"/>
          </a:xfrm>
          <a:prstGeom prst="rect">
            <a:avLst/>
          </a:prstGeom>
        </p:spPr>
        <p:txBody>
          <a:bodyPr wrap="square" lIns="0" tIns="0" rIns="0" bIns="0" rtlCol="0" anchor="t">
            <a:spAutoFit/>
          </a:bodyPr>
          <a:lstStyle/>
          <a:p>
            <a:pPr>
              <a:lnSpc>
                <a:spcPts val="1863"/>
              </a:lnSpc>
            </a:pPr>
            <a:r>
              <a:rPr lang="en-US" sz="1725" b="1" dirty="0">
                <a:solidFill>
                  <a:srgbClr val="14243A"/>
                </a:solidFill>
                <a:latin typeface="Montserrat Bold"/>
                <a:sym typeface="DM Sans"/>
              </a:rPr>
              <a:t>REDESIGN REQUIREMENT</a:t>
            </a:r>
          </a:p>
          <a:p>
            <a:pPr algn="l">
              <a:lnSpc>
                <a:spcPts val="2126"/>
              </a:lnSpc>
            </a:pPr>
            <a:r>
              <a:rPr lang="en-US" sz="2000" dirty="0">
                <a:solidFill>
                  <a:srgbClr val="14243A"/>
                </a:solidFill>
                <a:latin typeface="DM Sans"/>
                <a:ea typeface="DM Sans"/>
                <a:cs typeface="DM Sans"/>
                <a:sym typeface="DM Sans"/>
              </a:rPr>
              <a:t>Restore a zero-anchored baseline (</a:t>
            </a:r>
            <a:r>
              <a:rPr lang="en-US" sz="2000" dirty="0" err="1">
                <a:solidFill>
                  <a:srgbClr val="14243A"/>
                </a:solidFill>
                <a:latin typeface="DM Sans"/>
                <a:ea typeface="DM Sans"/>
                <a:cs typeface="DM Sans"/>
                <a:sym typeface="DM Sans"/>
              </a:rPr>
              <a:t>ylim</a:t>
            </a:r>
            <a:r>
              <a:rPr lang="en-US" sz="2000" dirty="0">
                <a:solidFill>
                  <a:srgbClr val="14243A"/>
                </a:solidFill>
                <a:latin typeface="DM Sans"/>
                <a:ea typeface="DM Sans"/>
                <a:cs typeface="DM Sans"/>
                <a:sym typeface="DM Sans"/>
              </a:rPr>
              <a:t> = 0), map semantic season names, and expose full distributions + means.</a:t>
            </a:r>
          </a:p>
        </p:txBody>
      </p:sp>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500137"/>
          </a:xfrm>
          <a:prstGeom prst="rect">
            <a:avLst/>
          </a:prstGeom>
        </p:spPr>
        <p:txBody>
          <a:bodyPr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Build Stations for Rush-Hour Spikes, Not Average Traffic</a:t>
            </a:r>
          </a:p>
        </p:txBody>
      </p:sp>
      <p:sp>
        <p:nvSpPr>
          <p:cNvPr id="4" name="Freeform 4"/>
          <p:cNvSpPr/>
          <p:nvPr/>
        </p:nvSpPr>
        <p:spPr>
          <a:xfrm>
            <a:off x="385383" y="2095500"/>
            <a:ext cx="12687637" cy="7162800"/>
          </a:xfrm>
          <a:custGeom>
            <a:avLst/>
            <a:gdLst/>
            <a:ahLst/>
            <a:cxnLst/>
            <a:rect l="l" t="t" r="r" b="b"/>
            <a:pathLst>
              <a:path w="12687637" h="6572250">
                <a:moveTo>
                  <a:pt x="0" y="0"/>
                </a:moveTo>
                <a:lnTo>
                  <a:pt x="12687637" y="0"/>
                </a:lnTo>
                <a:lnTo>
                  <a:pt x="12687637" y="6572250"/>
                </a:lnTo>
                <a:lnTo>
                  <a:pt x="0" y="6572250"/>
                </a:lnTo>
                <a:lnTo>
                  <a:pt x="0" y="0"/>
                </a:lnTo>
                <a:close/>
              </a:path>
            </a:pathLst>
          </a:custGeom>
          <a:blipFill>
            <a:blip r:embed="rId4">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3334999" y="2224658"/>
            <a:ext cx="4567617" cy="6957441"/>
            <a:chOff x="0" y="0"/>
            <a:chExt cx="5537200" cy="8763000"/>
          </a:xfrm>
        </p:grpSpPr>
        <p:sp>
          <p:nvSpPr>
            <p:cNvPr id="6" name="Freeform 6"/>
            <p:cNvSpPr/>
            <p:nvPr/>
          </p:nvSpPr>
          <p:spPr>
            <a:xfrm>
              <a:off x="0" y="0"/>
              <a:ext cx="5537200" cy="8763000"/>
            </a:xfrm>
            <a:custGeom>
              <a:avLst/>
              <a:gdLst/>
              <a:ahLst/>
              <a:cxnLst/>
              <a:rect l="l" t="t" r="r" b="b"/>
              <a:pathLst>
                <a:path w="5537200" h="8763000">
                  <a:moveTo>
                    <a:pt x="0" y="0"/>
                  </a:moveTo>
                  <a:lnTo>
                    <a:pt x="5537200" y="0"/>
                  </a:lnTo>
                  <a:lnTo>
                    <a:pt x="5537200" y="8763000"/>
                  </a:lnTo>
                  <a:lnTo>
                    <a:pt x="0" y="8763000"/>
                  </a:lnTo>
                  <a:close/>
                </a:path>
              </a:pathLst>
            </a:custGeom>
            <a:solidFill>
              <a:srgbClr val="DCECF7"/>
            </a:solidFill>
            <a:ln w="9525" cap="sq">
              <a:solidFill>
                <a:srgbClr val="C7D4E2"/>
              </a:solidFill>
              <a:prstDash val="solid"/>
              <a:miter/>
            </a:ln>
          </p:spPr>
          <p:txBody>
            <a:bodyPr/>
            <a:lstStyle/>
            <a:p>
              <a:endParaRPr lang="en-US"/>
            </a:p>
          </p:txBody>
        </p:sp>
        <p:sp>
          <p:nvSpPr>
            <p:cNvPr id="7" name="TextBox 7"/>
            <p:cNvSpPr txBox="1"/>
            <p:nvPr/>
          </p:nvSpPr>
          <p:spPr>
            <a:xfrm>
              <a:off x="0" y="-38100"/>
              <a:ext cx="5537200" cy="880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487400" y="2472309"/>
            <a:ext cx="4343399" cy="4885505"/>
          </a:xfrm>
          <a:prstGeom prst="rect">
            <a:avLst/>
          </a:prstGeom>
        </p:spPr>
        <p:txBody>
          <a:bodyPr wrap="square" lIns="0" tIns="0" rIns="0" bIns="0" rtlCol="0" anchor="t">
            <a:spAutoFit/>
          </a:bodyPr>
          <a:lstStyle/>
          <a:p>
            <a:pPr algn="l">
              <a:lnSpc>
                <a:spcPts val="1863"/>
              </a:lnSpc>
            </a:pPr>
            <a:r>
              <a:rPr lang="en-US" sz="1725" b="1" dirty="0">
                <a:solidFill>
                  <a:srgbClr val="14243A"/>
                </a:solidFill>
                <a:latin typeface="Montserrat Bold"/>
                <a:ea typeface="Montserrat Bold"/>
                <a:cs typeface="Montserrat Bold"/>
                <a:sym typeface="Montserrat Bold"/>
              </a:rPr>
              <a:t>DISTRIBUTIONAL EVIDENCE</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Fall (Season 3): Mean 236.0 · Median 199.0 · SD 197.7 (Highest demand)</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Summer (Season 2): Mean 208.3 · Median 165.0 · SD 188.4</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Winter (Season 4): Mean 198.9 · Median 155.5 · SD 183.0</a:t>
            </a:r>
          </a:p>
          <a:p>
            <a:pPr algn="l">
              <a:lnSpc>
                <a:spcPts val="1863"/>
              </a:lnSpc>
            </a:pPr>
            <a:endParaRPr lang="en-US" sz="2000" dirty="0">
              <a:solidFill>
                <a:srgbClr val="14243A"/>
              </a:solidFill>
              <a:latin typeface="DM Sans" pitchFamily="2" charset="0"/>
              <a:ea typeface="Montserrat Bold"/>
              <a:cs typeface="Montserrat Bold"/>
              <a:sym typeface="Montserrat Bold"/>
            </a:endParaRPr>
          </a:p>
          <a:p>
            <a:pPr algn="l">
              <a:lnSpc>
                <a:spcPts val="1863"/>
              </a:lnSpc>
            </a:pPr>
            <a:r>
              <a:rPr lang="en-US" sz="2000" dirty="0">
                <a:solidFill>
                  <a:srgbClr val="14243A"/>
                </a:solidFill>
                <a:latin typeface="DM Sans" pitchFamily="2" charset="0"/>
                <a:ea typeface="Montserrat Bold"/>
                <a:cs typeface="Montserrat Bold"/>
                <a:sym typeface="Montserrat Bold"/>
              </a:rPr>
              <a:t>• Spring (Season 1): Mean 111.1 · Median 76.0 · SD 119.2</a:t>
            </a:r>
          </a:p>
          <a:p>
            <a:pPr algn="l">
              <a:lnSpc>
                <a:spcPts val="1863"/>
              </a:lnSpc>
            </a:pPr>
            <a:endParaRPr lang="en-US" sz="1725" b="1" dirty="0">
              <a:solidFill>
                <a:srgbClr val="14243A"/>
              </a:solidFill>
              <a:latin typeface="Montserrat Bold"/>
              <a:ea typeface="Montserrat Bold"/>
              <a:cs typeface="Montserrat Bold"/>
              <a:sym typeface="Montserrat Bold"/>
            </a:endParaRPr>
          </a:p>
          <a:p>
            <a:pPr algn="l">
              <a:lnSpc>
                <a:spcPts val="1863"/>
              </a:lnSpc>
            </a:pPr>
            <a:r>
              <a:rPr lang="en-US" sz="1725" b="1" dirty="0">
                <a:solidFill>
                  <a:srgbClr val="14243A"/>
                </a:solidFill>
                <a:latin typeface="Montserrat Bold"/>
                <a:ea typeface="Montserrat Bold"/>
                <a:cs typeface="Montserrat Bold"/>
                <a:sym typeface="Montserrat Bold"/>
              </a:rPr>
              <a:t>CAPACITY TAKEAWAY</a:t>
            </a:r>
          </a:p>
          <a:p>
            <a:pPr algn="l">
              <a:lnSpc>
                <a:spcPts val="1863"/>
              </a:lnSpc>
            </a:pPr>
            <a:r>
              <a:rPr lang="en-US" sz="2000" dirty="0">
                <a:solidFill>
                  <a:srgbClr val="14243A"/>
                </a:solidFill>
                <a:latin typeface="DM Sans" pitchFamily="2" charset="0"/>
                <a:ea typeface="Montserrat Bold"/>
                <a:cs typeface="Montserrat Bold"/>
                <a:sym typeface="Montserrat Bold"/>
              </a:rPr>
              <a:t>Upper-tail commute surges (&gt;800 to 977.0 rides/</a:t>
            </a:r>
            <a:r>
              <a:rPr lang="en-US" sz="2000" dirty="0" err="1">
                <a:solidFill>
                  <a:srgbClr val="14243A"/>
                </a:solidFill>
                <a:latin typeface="DM Sans" pitchFamily="2" charset="0"/>
                <a:ea typeface="Montserrat Bold"/>
                <a:cs typeface="Montserrat Bold"/>
                <a:sym typeface="Montserrat Bold"/>
              </a:rPr>
              <a:t>hr</a:t>
            </a:r>
            <a:r>
              <a:rPr lang="en-US" sz="2000" dirty="0">
                <a:solidFill>
                  <a:srgbClr val="14243A"/>
                </a:solidFill>
                <a:latin typeface="DM Sans" pitchFamily="2" charset="0"/>
                <a:ea typeface="Montserrat Bold"/>
                <a:cs typeface="Montserrat Bold"/>
                <a:sym typeface="Montserrat Bold"/>
              </a:rPr>
              <a:t>) govern station dock capacity—not seasonal averages.</a:t>
            </a:r>
          </a:p>
        </p:txBody>
      </p:sp>
    </p:spTree>
  </p:cSld>
  <p:clrMapOvr>
    <a:overrideClrMapping bg1="lt1" tx1="dk1" bg2="lt2" tx2="dk2" accent1="accent1" accent2="accent2" accent3="accent3" accent4="accent4" accent5="accent5" accent6="accent6" hlink="hlink" folHlink="folHlink"/>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2"/>
          <p:cNvSpPr txBox="1"/>
          <p:nvPr/>
        </p:nvSpPr>
        <p:spPr>
          <a:xfrm>
            <a:off x="800100" y="600075"/>
            <a:ext cx="16687800" cy="500137"/>
          </a:xfrm>
          <a:prstGeom prst="rect">
            <a:avLst/>
          </a:prstGeom>
        </p:spPr>
        <p:txBody>
          <a:bodyPr lIns="0" tIns="0" rIns="0" bIns="0" rtlCol="0" anchor="t">
            <a:spAutoFit/>
          </a:bodyPr>
          <a:lstStyle/>
          <a:p>
            <a:pPr>
              <a:lnSpc>
                <a:spcPts val="3888"/>
              </a:lnSpc>
            </a:pPr>
            <a:r>
              <a:rPr lang="en-US" sz="3600" b="1" dirty="0">
                <a:solidFill>
                  <a:srgbClr val="14243A"/>
                </a:solidFill>
                <a:latin typeface="Montserrat Bold"/>
                <a:ea typeface="Montserrat Bold"/>
                <a:cs typeface="Montserrat Bold"/>
                <a:sym typeface="Montserrat Bold"/>
              </a:rPr>
              <a:t>Rain Hurts Demand More Than Cold—Use Rainy Days for Repairs</a:t>
            </a:r>
          </a:p>
        </p:txBody>
      </p:sp>
      <p:sp>
        <p:nvSpPr>
          <p:cNvPr id="3" name="TextBox 3"/>
          <p:cNvSpPr txBox="1"/>
          <p:nvPr/>
        </p:nvSpPr>
        <p:spPr>
          <a:xfrm>
            <a:off x="800100" y="1702689"/>
            <a:ext cx="16192500" cy="255270"/>
          </a:xfrm>
          <a:prstGeom prst="rect">
            <a:avLst/>
          </a:prstGeom>
        </p:spPr>
        <p:txBody>
          <a:bodyPr lIns="0" tIns="0" rIns="0" bIns="0" rtlCol="0" anchor="t">
            <a:spAutoFit/>
          </a:bodyPr>
          <a:lstStyle/>
          <a:p>
            <a:pPr algn="l">
              <a:lnSpc>
                <a:spcPts val="2145"/>
              </a:lnSpc>
            </a:pPr>
            <a:r>
              <a:rPr lang="en-US" sz="1650">
                <a:solidFill>
                  <a:srgbClr val="52647A"/>
                </a:solidFill>
                <a:latin typeface="DM Sans"/>
                <a:ea typeface="DM Sans"/>
                <a:cs typeface="DM Sans"/>
                <a:sym typeface="DM Sans"/>
              </a:rPr>
              <a:t>Figure 6 · Multi-dimensional weather × season hourly sensitivity matrix</a:t>
            </a:r>
          </a:p>
        </p:txBody>
      </p:sp>
      <p:sp>
        <p:nvSpPr>
          <p:cNvPr id="4" name="Freeform 4"/>
          <p:cNvSpPr/>
          <p:nvPr/>
        </p:nvSpPr>
        <p:spPr>
          <a:xfrm>
            <a:off x="800100" y="2224659"/>
            <a:ext cx="11620500" cy="7048500"/>
          </a:xfrm>
          <a:custGeom>
            <a:avLst/>
            <a:gdLst/>
            <a:ahLst/>
            <a:cxnLst/>
            <a:rect l="l" t="t" r="r" b="b"/>
            <a:pathLst>
              <a:path w="11620500" h="7048500">
                <a:moveTo>
                  <a:pt x="0" y="0"/>
                </a:moveTo>
                <a:lnTo>
                  <a:pt x="11620500" y="0"/>
                </a:lnTo>
                <a:lnTo>
                  <a:pt x="11620500" y="7048500"/>
                </a:lnTo>
                <a:lnTo>
                  <a:pt x="0" y="7048500"/>
                </a:lnTo>
                <a:lnTo>
                  <a:pt x="0" y="0"/>
                </a:lnTo>
                <a:close/>
              </a:path>
            </a:pathLst>
          </a:custGeom>
          <a:blipFill>
            <a:blip r:embed="rId3">
              <a:extLst>
                <a:ext uri="{28A0092B-C50C-407E-A947-70E740481C1C}">
                  <a14:useLocalDpi xmlns:a14="http://schemas.microsoft.com/office/drawing/2010/main" val="0"/>
                </a:ext>
              </a:extLst>
            </a:blip>
            <a:stretch>
              <a:fillRect/>
            </a:stretch>
          </a:blipFill>
          <a:ln cap="sq">
            <a:noFill/>
            <a:prstDash val="solid"/>
            <a:miter/>
          </a:ln>
        </p:spPr>
        <p:txBody>
          <a:bodyPr/>
          <a:lstStyle/>
          <a:p>
            <a:endParaRPr lang="en-US"/>
          </a:p>
        </p:txBody>
      </p:sp>
      <p:grpSp>
        <p:nvGrpSpPr>
          <p:cNvPr id="5" name="Group 5"/>
          <p:cNvGrpSpPr/>
          <p:nvPr/>
        </p:nvGrpSpPr>
        <p:grpSpPr>
          <a:xfrm>
            <a:off x="12954000" y="2224659"/>
            <a:ext cx="4533900" cy="7048500"/>
            <a:chOff x="0" y="0"/>
            <a:chExt cx="6045200" cy="9398000"/>
          </a:xfrm>
        </p:grpSpPr>
        <p:sp>
          <p:nvSpPr>
            <p:cNvPr id="6" name="Freeform 6"/>
            <p:cNvSpPr/>
            <p:nvPr/>
          </p:nvSpPr>
          <p:spPr>
            <a:xfrm>
              <a:off x="0" y="0"/>
              <a:ext cx="6045200" cy="9398000"/>
            </a:xfrm>
            <a:custGeom>
              <a:avLst/>
              <a:gdLst/>
              <a:ahLst/>
              <a:cxnLst/>
              <a:rect l="l" t="t" r="r" b="b"/>
              <a:pathLst>
                <a:path w="6045200" h="9398000">
                  <a:moveTo>
                    <a:pt x="0" y="0"/>
                  </a:moveTo>
                  <a:lnTo>
                    <a:pt x="6045200" y="0"/>
                  </a:lnTo>
                  <a:lnTo>
                    <a:pt x="6045200" y="9398000"/>
                  </a:lnTo>
                  <a:lnTo>
                    <a:pt x="0" y="9398000"/>
                  </a:lnTo>
                  <a:close/>
                </a:path>
              </a:pathLst>
            </a:custGeom>
            <a:solidFill>
              <a:srgbClr val="FFFFFF"/>
            </a:solidFill>
            <a:ln w="9525" cap="sq">
              <a:solidFill>
                <a:srgbClr val="C7D4E2"/>
              </a:solidFill>
              <a:prstDash val="solid"/>
              <a:miter/>
            </a:ln>
          </p:spPr>
          <p:txBody>
            <a:bodyPr/>
            <a:lstStyle/>
            <a:p>
              <a:endParaRPr lang="en-US"/>
            </a:p>
          </p:txBody>
        </p:sp>
        <p:sp>
          <p:nvSpPr>
            <p:cNvPr id="7" name="TextBox 7"/>
            <p:cNvSpPr txBox="1"/>
            <p:nvPr/>
          </p:nvSpPr>
          <p:spPr>
            <a:xfrm>
              <a:off x="0" y="-38100"/>
              <a:ext cx="6045200" cy="9436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13239750" y="2434209"/>
            <a:ext cx="4000500" cy="246507"/>
          </a:xfrm>
          <a:prstGeom prst="rect">
            <a:avLst/>
          </a:prstGeom>
        </p:spPr>
        <p:txBody>
          <a:bodyPr lIns="0" tIns="0" rIns="0" bIns="0" rtlCol="0" anchor="t">
            <a:spAutoFit/>
          </a:bodyPr>
          <a:lstStyle/>
          <a:p>
            <a:pPr algn="l">
              <a:lnSpc>
                <a:spcPts val="1944"/>
              </a:lnSpc>
            </a:pPr>
            <a:r>
              <a:rPr lang="en-US" sz="1800" b="1">
                <a:solidFill>
                  <a:srgbClr val="14243A"/>
                </a:solidFill>
                <a:latin typeface="Montserrat Bold"/>
                <a:ea typeface="Montserrat Bold"/>
                <a:cs typeface="Montserrat Bold"/>
                <a:sym typeface="Montserrat Bold"/>
              </a:rPr>
              <a:t>OPERATING READOUT</a:t>
            </a:r>
          </a:p>
        </p:txBody>
      </p:sp>
      <p:sp>
        <p:nvSpPr>
          <p:cNvPr id="9" name="TextBox 9"/>
          <p:cNvSpPr txBox="1"/>
          <p:nvPr/>
        </p:nvSpPr>
        <p:spPr>
          <a:xfrm>
            <a:off x="13239750" y="2977134"/>
            <a:ext cx="4000500" cy="3651885"/>
          </a:xfrm>
          <a:prstGeom prst="rect">
            <a:avLst/>
          </a:prstGeom>
        </p:spPr>
        <p:txBody>
          <a:bodyPr lIns="0" tIns="0" rIns="0" bIns="0" rtlCol="0" anchor="t">
            <a:spAutoFit/>
          </a:bodyPr>
          <a:lstStyle/>
          <a:p>
            <a:pPr algn="l">
              <a:lnSpc>
                <a:spcPts val="2430"/>
              </a:lnSpc>
            </a:pPr>
            <a:r>
              <a:rPr lang="en-US" sz="1800" dirty="0">
                <a:solidFill>
                  <a:srgbClr val="14243A"/>
                </a:solidFill>
                <a:latin typeface="DM Sans"/>
                <a:ea typeface="DM Sans"/>
                <a:cs typeface="DM Sans"/>
                <a:sym typeface="DM Sans"/>
              </a:rPr>
              <a:t>CLEAR SKY</a:t>
            </a:r>
          </a:p>
          <a:p>
            <a:pPr algn="l">
              <a:lnSpc>
                <a:spcPts val="2430"/>
              </a:lnSpc>
            </a:pPr>
            <a:r>
              <a:rPr lang="en-US" sz="1800" dirty="0">
                <a:solidFill>
                  <a:srgbClr val="14243A"/>
                </a:solidFill>
                <a:latin typeface="DM Sans"/>
                <a:ea typeface="DM Sans"/>
                <a:cs typeface="DM Sans"/>
                <a:sym typeface="DM Sans"/>
              </a:rPr>
              <a:t>Spring 122.1/</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r>
              <a:rPr lang="en-US" sz="1800" dirty="0">
                <a:solidFill>
                  <a:srgbClr val="14243A"/>
                </a:solidFill>
                <a:latin typeface="DM Sans"/>
                <a:ea typeface="DM Sans"/>
                <a:cs typeface="DM Sans"/>
                <a:sym typeface="DM Sans"/>
              </a:rPr>
              <a:t>Summer 232.4/</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r>
              <a:rPr lang="en-US" sz="1800" dirty="0">
                <a:solidFill>
                  <a:srgbClr val="14243A"/>
                </a:solidFill>
                <a:latin typeface="DM Sans"/>
                <a:ea typeface="DM Sans"/>
                <a:cs typeface="DM Sans"/>
                <a:sym typeface="DM Sans"/>
              </a:rPr>
              <a:t>Fall 244.5/</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r>
              <a:rPr lang="en-US" sz="1800" dirty="0">
                <a:solidFill>
                  <a:srgbClr val="14243A"/>
                </a:solidFill>
                <a:latin typeface="DM Sans"/>
                <a:ea typeface="DM Sans"/>
                <a:cs typeface="DM Sans"/>
                <a:sym typeface="DM Sans"/>
              </a:rPr>
              <a:t>Winter 209.5/</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endParaRPr lang="en-US" sz="1800" dirty="0">
              <a:solidFill>
                <a:srgbClr val="14243A"/>
              </a:solidFill>
              <a:latin typeface="DM Sans"/>
              <a:ea typeface="DM Sans"/>
              <a:cs typeface="DM Sans"/>
              <a:sym typeface="DM Sans"/>
            </a:endParaRPr>
          </a:p>
          <a:p>
            <a:pPr algn="l">
              <a:lnSpc>
                <a:spcPts val="2430"/>
              </a:lnSpc>
            </a:pPr>
            <a:r>
              <a:rPr lang="en-US" sz="1800" dirty="0">
                <a:solidFill>
                  <a:srgbClr val="14243A"/>
                </a:solidFill>
                <a:latin typeface="DM Sans"/>
                <a:ea typeface="DM Sans"/>
                <a:cs typeface="DM Sans"/>
                <a:sym typeface="DM Sans"/>
              </a:rPr>
              <a:t>RAIN / SNOW</a:t>
            </a:r>
          </a:p>
          <a:p>
            <a:pPr algn="l">
              <a:lnSpc>
                <a:spcPts val="2430"/>
              </a:lnSpc>
            </a:pPr>
            <a:r>
              <a:rPr lang="en-US" sz="1800" dirty="0">
                <a:solidFill>
                  <a:srgbClr val="14243A"/>
                </a:solidFill>
                <a:latin typeface="DM Sans"/>
                <a:ea typeface="DM Sans"/>
                <a:cs typeface="DM Sans"/>
                <a:sym typeface="DM Sans"/>
              </a:rPr>
              <a:t>Fall 172.0/</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r>
              <a:rPr lang="en-US" sz="1800" dirty="0">
                <a:solidFill>
                  <a:srgbClr val="14243A"/>
                </a:solidFill>
                <a:latin typeface="DM Sans"/>
                <a:ea typeface="DM Sans"/>
                <a:cs typeface="DM Sans"/>
                <a:sym typeface="DM Sans"/>
              </a:rPr>
              <a:t>Spring 58.7/</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a:p>
            <a:pPr algn="l">
              <a:lnSpc>
                <a:spcPts val="2430"/>
              </a:lnSpc>
            </a:pPr>
            <a:endParaRPr lang="en-US" sz="1800" dirty="0">
              <a:solidFill>
                <a:srgbClr val="14243A"/>
              </a:solidFill>
              <a:latin typeface="DM Sans"/>
              <a:ea typeface="DM Sans"/>
              <a:cs typeface="DM Sans"/>
              <a:sym typeface="DM Sans"/>
            </a:endParaRPr>
          </a:p>
          <a:p>
            <a:pPr>
              <a:lnSpc>
                <a:spcPts val="2430"/>
              </a:lnSpc>
            </a:pPr>
            <a:r>
              <a:rPr lang="en-US" dirty="0">
                <a:solidFill>
                  <a:srgbClr val="14243A"/>
                </a:solidFill>
                <a:latin typeface="DM Sans"/>
                <a:sym typeface="DM Sans"/>
              </a:rPr>
              <a:t>HEAVY RAIN / ICE</a:t>
            </a:r>
          </a:p>
          <a:p>
            <a:pPr algn="l">
              <a:lnSpc>
                <a:spcPts val="2430"/>
              </a:lnSpc>
            </a:pPr>
            <a:r>
              <a:rPr lang="en-US" sz="1800" dirty="0">
                <a:solidFill>
                  <a:srgbClr val="14243A"/>
                </a:solidFill>
                <a:latin typeface="DM Sans"/>
                <a:ea typeface="DM Sans"/>
                <a:cs typeface="DM Sans"/>
                <a:sym typeface="DM Sans"/>
              </a:rPr>
              <a:t>Spring only · 74.3/</a:t>
            </a:r>
            <a:r>
              <a:rPr lang="en-US" sz="1800" dirty="0" err="1">
                <a:solidFill>
                  <a:srgbClr val="14243A"/>
                </a:solidFill>
                <a:latin typeface="DM Sans"/>
                <a:ea typeface="DM Sans"/>
                <a:cs typeface="DM Sans"/>
                <a:sym typeface="DM Sans"/>
              </a:rPr>
              <a:t>hr</a:t>
            </a:r>
            <a:endParaRPr lang="en-US" sz="1800" dirty="0">
              <a:solidFill>
                <a:srgbClr val="14243A"/>
              </a:solidFill>
              <a:latin typeface="DM Sans"/>
              <a:ea typeface="DM Sans"/>
              <a:cs typeface="DM Sans"/>
              <a:sym typeface="DM Sans"/>
            </a:endParaRPr>
          </a:p>
        </p:txBody>
      </p:sp>
      <p:sp>
        <p:nvSpPr>
          <p:cNvPr id="10" name="TextBox 10"/>
          <p:cNvSpPr txBox="1"/>
          <p:nvPr/>
        </p:nvSpPr>
        <p:spPr>
          <a:xfrm>
            <a:off x="13239750" y="7863459"/>
            <a:ext cx="3810000" cy="523875"/>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Fall rain underperforms clear Winter: 172.0 &lt; 209.5 rides/hr.</a:t>
            </a:r>
          </a:p>
        </p:txBody>
      </p:sp>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2"/>
          <p:cNvSpPr txBox="1"/>
          <p:nvPr/>
        </p:nvSpPr>
        <p:spPr>
          <a:xfrm>
            <a:off x="800100" y="723900"/>
            <a:ext cx="14287500" cy="694563"/>
          </a:xfrm>
          <a:prstGeom prst="rect">
            <a:avLst/>
          </a:prstGeom>
        </p:spPr>
        <p:txBody>
          <a:bodyPr lIns="0" tIns="0" rIns="0" bIns="0" rtlCol="0" anchor="t">
            <a:spAutoFit/>
          </a:bodyPr>
          <a:lstStyle/>
          <a:p>
            <a:pPr algn="l">
              <a:lnSpc>
                <a:spcPts val="5346"/>
              </a:lnSpc>
            </a:pPr>
            <a:r>
              <a:rPr lang="en-US" sz="4950" b="1">
                <a:solidFill>
                  <a:srgbClr val="FFFFFF"/>
                </a:solidFill>
                <a:latin typeface="Montserrat Bold"/>
                <a:ea typeface="Montserrat Bold"/>
                <a:cs typeface="Montserrat Bold"/>
                <a:sym typeface="Montserrat Bold"/>
              </a:rPr>
              <a:t>Operate to peaks, not averages.</a:t>
            </a:r>
          </a:p>
        </p:txBody>
      </p:sp>
      <p:grpSp>
        <p:nvGrpSpPr>
          <p:cNvPr id="3" name="Group 3"/>
          <p:cNvGrpSpPr/>
          <p:nvPr/>
        </p:nvGrpSpPr>
        <p:grpSpPr>
          <a:xfrm>
            <a:off x="800100" y="2286000"/>
            <a:ext cx="16687800" cy="1619250"/>
            <a:chOff x="0" y="0"/>
            <a:chExt cx="22250400" cy="2159000"/>
          </a:xfrm>
        </p:grpSpPr>
        <p:sp>
          <p:nvSpPr>
            <p:cNvPr id="4" name="Freeform 4"/>
            <p:cNvSpPr/>
            <p:nvPr/>
          </p:nvSpPr>
          <p:spPr>
            <a:xfrm>
              <a:off x="0" y="0"/>
              <a:ext cx="22250400" cy="2159000"/>
            </a:xfrm>
            <a:custGeom>
              <a:avLst/>
              <a:gdLst/>
              <a:ahLst/>
              <a:cxnLst/>
              <a:rect l="l" t="t" r="r" b="b"/>
              <a:pathLst>
                <a:path w="22250400" h="2159000">
                  <a:moveTo>
                    <a:pt x="0" y="0"/>
                  </a:moveTo>
                  <a:lnTo>
                    <a:pt x="22250400" y="0"/>
                  </a:lnTo>
                  <a:lnTo>
                    <a:pt x="22250400" y="2159000"/>
                  </a:lnTo>
                  <a:lnTo>
                    <a:pt x="0" y="2159000"/>
                  </a:lnTo>
                  <a:close/>
                </a:path>
              </a:pathLst>
            </a:custGeom>
            <a:solidFill>
              <a:srgbClr val="1769AA"/>
            </a:solidFill>
            <a:ln cap="sq">
              <a:noFill/>
              <a:prstDash val="solid"/>
              <a:miter/>
            </a:ln>
          </p:spPr>
          <p:txBody>
            <a:bodyPr/>
            <a:lstStyle/>
            <a:p>
              <a:endParaRPr lang="en-US"/>
            </a:p>
          </p:txBody>
        </p:sp>
        <p:sp>
          <p:nvSpPr>
            <p:cNvPr id="5" name="TextBox 5"/>
            <p:cNvSpPr txBox="1"/>
            <p:nvPr/>
          </p:nvSpPr>
          <p:spPr>
            <a:xfrm>
              <a:off x="0" y="-38100"/>
              <a:ext cx="22250400" cy="21971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800100" y="4238625"/>
            <a:ext cx="16687800" cy="1619250"/>
            <a:chOff x="0" y="0"/>
            <a:chExt cx="22250400" cy="2159000"/>
          </a:xfrm>
        </p:grpSpPr>
        <p:sp>
          <p:nvSpPr>
            <p:cNvPr id="7" name="Freeform 7"/>
            <p:cNvSpPr/>
            <p:nvPr/>
          </p:nvSpPr>
          <p:spPr>
            <a:xfrm>
              <a:off x="0" y="0"/>
              <a:ext cx="22250400" cy="2159000"/>
            </a:xfrm>
            <a:custGeom>
              <a:avLst/>
              <a:gdLst/>
              <a:ahLst/>
              <a:cxnLst/>
              <a:rect l="l" t="t" r="r" b="b"/>
              <a:pathLst>
                <a:path w="22250400" h="2159000">
                  <a:moveTo>
                    <a:pt x="0" y="0"/>
                  </a:moveTo>
                  <a:lnTo>
                    <a:pt x="22250400" y="0"/>
                  </a:lnTo>
                  <a:lnTo>
                    <a:pt x="22250400" y="2159000"/>
                  </a:lnTo>
                  <a:lnTo>
                    <a:pt x="0" y="2159000"/>
                  </a:lnTo>
                  <a:close/>
                </a:path>
              </a:pathLst>
            </a:custGeom>
            <a:solidFill>
              <a:srgbClr val="FFFFFF"/>
            </a:solidFill>
            <a:ln cap="sq">
              <a:noFill/>
              <a:prstDash val="solid"/>
              <a:miter/>
            </a:ln>
          </p:spPr>
          <p:txBody>
            <a:bodyPr/>
            <a:lstStyle/>
            <a:p>
              <a:endParaRPr lang="en-US" dirty="0"/>
            </a:p>
          </p:txBody>
        </p:sp>
        <p:sp>
          <p:nvSpPr>
            <p:cNvPr id="8" name="TextBox 8"/>
            <p:cNvSpPr txBox="1"/>
            <p:nvPr/>
          </p:nvSpPr>
          <p:spPr>
            <a:xfrm>
              <a:off x="0" y="-38100"/>
              <a:ext cx="22250400" cy="21971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800100" y="6191250"/>
            <a:ext cx="16687800" cy="1619250"/>
            <a:chOff x="0" y="0"/>
            <a:chExt cx="22250400" cy="2159000"/>
          </a:xfrm>
        </p:grpSpPr>
        <p:sp>
          <p:nvSpPr>
            <p:cNvPr id="10" name="Freeform 10"/>
            <p:cNvSpPr/>
            <p:nvPr/>
          </p:nvSpPr>
          <p:spPr>
            <a:xfrm>
              <a:off x="0" y="0"/>
              <a:ext cx="22250400" cy="2159000"/>
            </a:xfrm>
            <a:custGeom>
              <a:avLst/>
              <a:gdLst/>
              <a:ahLst/>
              <a:cxnLst/>
              <a:rect l="l" t="t" r="r" b="b"/>
              <a:pathLst>
                <a:path w="22250400" h="2159000">
                  <a:moveTo>
                    <a:pt x="0" y="0"/>
                  </a:moveTo>
                  <a:lnTo>
                    <a:pt x="22250400" y="0"/>
                  </a:lnTo>
                  <a:lnTo>
                    <a:pt x="22250400" y="2159000"/>
                  </a:lnTo>
                  <a:lnTo>
                    <a:pt x="0" y="2159000"/>
                  </a:lnTo>
                  <a:close/>
                </a:path>
              </a:pathLst>
            </a:custGeom>
            <a:solidFill>
              <a:srgbClr val="FFFFFF"/>
            </a:solidFill>
            <a:ln cap="sq">
              <a:noFill/>
              <a:prstDash val="solid"/>
              <a:miter/>
            </a:ln>
          </p:spPr>
          <p:txBody>
            <a:bodyPr/>
            <a:lstStyle/>
            <a:p>
              <a:endParaRPr lang="en-US" dirty="0"/>
            </a:p>
          </p:txBody>
        </p:sp>
        <p:sp>
          <p:nvSpPr>
            <p:cNvPr id="11" name="TextBox 11"/>
            <p:cNvSpPr txBox="1"/>
            <p:nvPr/>
          </p:nvSpPr>
          <p:spPr>
            <a:xfrm>
              <a:off x="0" y="-38100"/>
              <a:ext cx="22250400" cy="2197100"/>
            </a:xfrm>
            <a:prstGeom prst="rect">
              <a:avLst/>
            </a:prstGeom>
          </p:spPr>
          <p:txBody>
            <a:bodyPr lIns="50800" tIns="50800" rIns="50800" bIns="50800" rtlCol="0" anchor="ctr"/>
            <a:lstStyle/>
            <a:p>
              <a:pPr algn="l">
                <a:lnSpc>
                  <a:spcPts val="1679"/>
                </a:lnSpc>
              </a:pPr>
              <a:endParaRPr/>
            </a:p>
          </p:txBody>
        </p:sp>
      </p:grpSp>
      <p:sp>
        <p:nvSpPr>
          <p:cNvPr id="12" name="TextBox 12"/>
          <p:cNvSpPr txBox="1"/>
          <p:nvPr/>
        </p:nvSpPr>
        <p:spPr>
          <a:xfrm>
            <a:off x="1066800" y="2638425"/>
            <a:ext cx="11430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01</a:t>
            </a:r>
          </a:p>
        </p:txBody>
      </p:sp>
      <p:sp>
        <p:nvSpPr>
          <p:cNvPr id="13" name="TextBox 13"/>
          <p:cNvSpPr txBox="1"/>
          <p:nvPr/>
        </p:nvSpPr>
        <p:spPr>
          <a:xfrm>
            <a:off x="2419350" y="2571750"/>
            <a:ext cx="4762500" cy="266700"/>
          </a:xfrm>
          <a:prstGeom prst="rect">
            <a:avLst/>
          </a:prstGeom>
        </p:spPr>
        <p:txBody>
          <a:bodyPr lIns="0" tIns="0" rIns="0" bIns="0" rtlCol="0" anchor="t">
            <a:spAutoFit/>
          </a:bodyPr>
          <a:lstStyle/>
          <a:p>
            <a:pPr algn="l">
              <a:lnSpc>
                <a:spcPts val="2025"/>
              </a:lnSpc>
            </a:pPr>
            <a:r>
              <a:rPr lang="en-US" sz="1875" b="1">
                <a:solidFill>
                  <a:srgbClr val="14243A"/>
                </a:solidFill>
                <a:latin typeface="Montserrat Bold"/>
                <a:ea typeface="Montserrat Bold"/>
                <a:cs typeface="Montserrat Bold"/>
                <a:sym typeface="Montserrat Bold"/>
              </a:rPr>
              <a:t>REBALANCE BY REGIME</a:t>
            </a:r>
          </a:p>
        </p:txBody>
      </p:sp>
      <p:sp>
        <p:nvSpPr>
          <p:cNvPr id="14" name="TextBox 14"/>
          <p:cNvSpPr txBox="1"/>
          <p:nvPr/>
        </p:nvSpPr>
        <p:spPr>
          <a:xfrm>
            <a:off x="7467600" y="2524125"/>
            <a:ext cx="9715500" cy="621506"/>
          </a:xfrm>
          <a:prstGeom prst="rect">
            <a:avLst/>
          </a:prstGeom>
        </p:spPr>
        <p:txBody>
          <a:bodyPr lIns="0" tIns="0" rIns="0" bIns="0" rtlCol="0" anchor="t">
            <a:spAutoFit/>
          </a:bodyPr>
          <a:lstStyle/>
          <a:p>
            <a:pPr algn="l">
              <a:lnSpc>
                <a:spcPts val="2531"/>
              </a:lnSpc>
            </a:pPr>
            <a:r>
              <a:rPr lang="en-US" sz="1875">
                <a:solidFill>
                  <a:srgbClr val="FFFFFF"/>
                </a:solidFill>
                <a:latin typeface="DM Sans"/>
                <a:ea typeface="DM Sans"/>
                <a:cs typeface="DM Sans"/>
                <a:sym typeface="DM Sans"/>
              </a:rPr>
              <a:t>08:00 (477.0/hr) and 17:00 (525.3/hr) weekday peaks; parks at 12:00–14:00 (372.7/hr) on weekends.</a:t>
            </a:r>
          </a:p>
        </p:txBody>
      </p:sp>
      <p:sp>
        <p:nvSpPr>
          <p:cNvPr id="15" name="TextBox 15"/>
          <p:cNvSpPr txBox="1"/>
          <p:nvPr/>
        </p:nvSpPr>
        <p:spPr>
          <a:xfrm>
            <a:off x="1066800" y="4591050"/>
            <a:ext cx="11430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02</a:t>
            </a:r>
          </a:p>
        </p:txBody>
      </p:sp>
      <p:sp>
        <p:nvSpPr>
          <p:cNvPr id="16" name="TextBox 16"/>
          <p:cNvSpPr txBox="1"/>
          <p:nvPr/>
        </p:nvSpPr>
        <p:spPr>
          <a:xfrm>
            <a:off x="2419350" y="4524375"/>
            <a:ext cx="4762500" cy="266700"/>
          </a:xfrm>
          <a:prstGeom prst="rect">
            <a:avLst/>
          </a:prstGeom>
        </p:spPr>
        <p:txBody>
          <a:bodyPr lIns="0" tIns="0" rIns="0" bIns="0" rtlCol="0" anchor="t">
            <a:spAutoFit/>
          </a:bodyPr>
          <a:lstStyle/>
          <a:p>
            <a:pPr>
              <a:lnSpc>
                <a:spcPts val="2025"/>
              </a:lnSpc>
            </a:pPr>
            <a:r>
              <a:rPr lang="en-US" sz="2000" b="1" dirty="0"/>
              <a:t>SURGE-BASED DOCK SIZING</a:t>
            </a:r>
            <a:endParaRPr lang="en-US" sz="1875" b="1" dirty="0">
              <a:solidFill>
                <a:srgbClr val="14243A"/>
              </a:solidFill>
              <a:latin typeface="Montserrat Bold"/>
              <a:ea typeface="Montserrat Bold"/>
              <a:cs typeface="Montserrat Bold"/>
              <a:sym typeface="Montserrat Bold"/>
            </a:endParaRPr>
          </a:p>
        </p:txBody>
      </p:sp>
      <p:sp>
        <p:nvSpPr>
          <p:cNvPr id="17" name="TextBox 17"/>
          <p:cNvSpPr txBox="1"/>
          <p:nvPr/>
        </p:nvSpPr>
        <p:spPr>
          <a:xfrm>
            <a:off x="7467600" y="4476750"/>
            <a:ext cx="9715500" cy="553998"/>
          </a:xfrm>
          <a:prstGeom prst="rect">
            <a:avLst/>
          </a:prstGeom>
        </p:spPr>
        <p:txBody>
          <a:bodyPr lIns="0" tIns="0" rIns="0" bIns="0" rtlCol="0" anchor="t">
            <a:spAutoFit/>
          </a:bodyPr>
          <a:lstStyle/>
          <a:p>
            <a:r>
              <a:rPr lang="en-US" dirty="0"/>
              <a:t>Size Summer/Fall stations for peak surges (&gt;800 to 977/</a:t>
            </a:r>
            <a:r>
              <a:rPr lang="en-US" dirty="0" err="1"/>
              <a:t>hr</a:t>
            </a:r>
            <a:r>
              <a:rPr lang="en-US" dirty="0"/>
              <a:t>);</a:t>
            </a:r>
            <a:endParaRPr lang="en-US" sz="2000" dirty="0"/>
          </a:p>
          <a:p>
            <a:r>
              <a:rPr lang="en-US" dirty="0"/>
              <a:t>sizing to the 189.5/</a:t>
            </a:r>
            <a:r>
              <a:rPr lang="en-US" dirty="0" err="1"/>
              <a:t>hr</a:t>
            </a:r>
            <a:r>
              <a:rPr lang="en-US" dirty="0"/>
              <a:t> annual mean guarantees dock overflows.</a:t>
            </a:r>
            <a:endParaRPr lang="en-US" sz="2000" dirty="0"/>
          </a:p>
        </p:txBody>
      </p:sp>
      <p:sp>
        <p:nvSpPr>
          <p:cNvPr id="18" name="TextBox 18"/>
          <p:cNvSpPr txBox="1"/>
          <p:nvPr/>
        </p:nvSpPr>
        <p:spPr>
          <a:xfrm>
            <a:off x="1066800" y="6543675"/>
            <a:ext cx="1143000" cy="493014"/>
          </a:xfrm>
          <a:prstGeom prst="rect">
            <a:avLst/>
          </a:prstGeom>
        </p:spPr>
        <p:txBody>
          <a:bodyPr lIns="0" tIns="0" rIns="0" bIns="0" rtlCol="0" anchor="t">
            <a:spAutoFit/>
          </a:bodyPr>
          <a:lstStyle/>
          <a:p>
            <a:pPr algn="l">
              <a:lnSpc>
                <a:spcPts val="3888"/>
              </a:lnSpc>
            </a:pPr>
            <a:r>
              <a:rPr lang="en-US" sz="3600" b="1">
                <a:solidFill>
                  <a:srgbClr val="14243A"/>
                </a:solidFill>
                <a:latin typeface="Montserrat Bold"/>
                <a:ea typeface="Montserrat Bold"/>
                <a:cs typeface="Montserrat Bold"/>
                <a:sym typeface="Montserrat Bold"/>
              </a:rPr>
              <a:t>03</a:t>
            </a:r>
          </a:p>
        </p:txBody>
      </p:sp>
      <p:sp>
        <p:nvSpPr>
          <p:cNvPr id="19" name="TextBox 19"/>
          <p:cNvSpPr txBox="1"/>
          <p:nvPr/>
        </p:nvSpPr>
        <p:spPr>
          <a:xfrm>
            <a:off x="2419350" y="6477000"/>
            <a:ext cx="4762500" cy="266700"/>
          </a:xfrm>
          <a:prstGeom prst="rect">
            <a:avLst/>
          </a:prstGeom>
        </p:spPr>
        <p:txBody>
          <a:bodyPr lIns="0" tIns="0" rIns="0" bIns="0" rtlCol="0" anchor="t">
            <a:spAutoFit/>
          </a:bodyPr>
          <a:lstStyle/>
          <a:p>
            <a:pPr>
              <a:lnSpc>
                <a:spcPts val="2025"/>
              </a:lnSpc>
            </a:pPr>
            <a:r>
              <a:rPr lang="en-US" sz="2000" b="1" dirty="0"/>
              <a:t>WEATHER-DRIVEN MAINTENANCE</a:t>
            </a:r>
            <a:endParaRPr lang="en-US" sz="1875" b="1" dirty="0">
              <a:solidFill>
                <a:srgbClr val="14243A"/>
              </a:solidFill>
              <a:latin typeface="Montserrat Bold"/>
              <a:ea typeface="Montserrat Bold"/>
              <a:cs typeface="Montserrat Bold"/>
              <a:sym typeface="Montserrat Bold"/>
            </a:endParaRPr>
          </a:p>
        </p:txBody>
      </p:sp>
      <p:sp>
        <p:nvSpPr>
          <p:cNvPr id="20" name="TextBox 20"/>
          <p:cNvSpPr txBox="1"/>
          <p:nvPr/>
        </p:nvSpPr>
        <p:spPr>
          <a:xfrm>
            <a:off x="7467600" y="6429375"/>
            <a:ext cx="9715500" cy="553998"/>
          </a:xfrm>
          <a:prstGeom prst="rect">
            <a:avLst/>
          </a:prstGeom>
        </p:spPr>
        <p:txBody>
          <a:bodyPr lIns="0" tIns="0" rIns="0" bIns="0" rtlCol="0" anchor="t">
            <a:spAutoFit/>
          </a:bodyPr>
          <a:lstStyle/>
          <a:p>
            <a:r>
              <a:rPr lang="en-US" dirty="0"/>
              <a:t>Schedule fleet maintenance during rain/snow troughs (58.7–172.0/</a:t>
            </a:r>
            <a:r>
              <a:rPr lang="en-US" dirty="0" err="1"/>
              <a:t>hr</a:t>
            </a:r>
            <a:r>
              <a:rPr lang="en-US" dirty="0"/>
              <a:t>);</a:t>
            </a:r>
            <a:endParaRPr lang="en-US" sz="2000" dirty="0"/>
          </a:p>
          <a:p>
            <a:r>
              <a:rPr lang="en-US" dirty="0"/>
              <a:t>protects operational availability during peak sunny demand.</a:t>
            </a:r>
            <a:endParaRPr lang="en-US" sz="2000" dirty="0"/>
          </a:p>
        </p:txBody>
      </p:sp>
      <p:sp>
        <p:nvSpPr>
          <p:cNvPr id="21" name="TextBox 21"/>
          <p:cNvSpPr txBox="1"/>
          <p:nvPr/>
        </p:nvSpPr>
        <p:spPr>
          <a:xfrm>
            <a:off x="800100" y="8620125"/>
            <a:ext cx="16687800" cy="493014"/>
          </a:xfrm>
          <a:prstGeom prst="rect">
            <a:avLst/>
          </a:prstGeom>
        </p:spPr>
        <p:txBody>
          <a:bodyPr lIns="0" tIns="0" rIns="0" bIns="0" rtlCol="0" anchor="t">
            <a:spAutoFit/>
          </a:bodyPr>
          <a:lstStyle/>
          <a:p>
            <a:pPr algn="ctr">
              <a:lnSpc>
                <a:spcPts val="3888"/>
              </a:lnSpc>
            </a:pPr>
            <a:r>
              <a:rPr lang="en-US" sz="3600" b="1">
                <a:solidFill>
                  <a:srgbClr val="FFFFFF"/>
                </a:solidFill>
                <a:latin typeface="Montserrat Bold"/>
                <a:ea typeface="Montserrat Bold"/>
                <a:cs typeface="Montserrat Bold"/>
                <a:sym typeface="Montserrat Bold"/>
              </a:rPr>
              <a:t>Thank you • Questions</a:t>
            </a:r>
          </a:p>
        </p:txBody>
      </p:sp>
      <p:sp>
        <p:nvSpPr>
          <p:cNvPr id="22" name="TextBox 22"/>
          <p:cNvSpPr txBox="1"/>
          <p:nvPr/>
        </p:nvSpPr>
        <p:spPr>
          <a:xfrm>
            <a:off x="800100" y="9210675"/>
            <a:ext cx="16687800" cy="265271"/>
          </a:xfrm>
          <a:prstGeom prst="rect">
            <a:avLst/>
          </a:prstGeom>
        </p:spPr>
        <p:txBody>
          <a:bodyPr lIns="0" tIns="0" rIns="0" bIns="0" rtlCol="0" anchor="t">
            <a:spAutoFit/>
          </a:bodyPr>
          <a:lstStyle/>
          <a:p>
            <a:pPr algn="ctr">
              <a:lnSpc>
                <a:spcPts val="2126"/>
              </a:lnSpc>
            </a:pPr>
            <a:r>
              <a:rPr lang="en-US" sz="1575">
                <a:solidFill>
                  <a:srgbClr val="FFFFFF"/>
                </a:solidFill>
                <a:latin typeface="DM Sans"/>
                <a:ea typeface="DM Sans"/>
                <a:cs typeface="DM Sans"/>
                <a:sym typeface="DM Sans"/>
              </a:rPr>
              <a:t>Honest baselines · distributional transparency · double-encoded accessibility</a:t>
            </a:r>
          </a:p>
        </p:txBody>
      </p:sp>
    </p:spTree>
  </p:cSld>
  <p:clrMapOvr>
    <a:masterClrMapping/>
  </p:clrMapOvr>
  <p:transition>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21</TotalTime>
  <Words>2504</Words>
  <Application>Microsoft Office PowerPoint</Application>
  <PresentationFormat>Custom</PresentationFormat>
  <Paragraphs>276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DM Sans</vt:lpstr>
      <vt:lpstr>Arial</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Assessment 1: Data Handling and Visualisation (7PAM2004)</dc:title>
  <cp:lastModifiedBy>Truong Tan Phat</cp:lastModifiedBy>
  <cp:revision>21</cp:revision>
  <dcterms:created xsi:type="dcterms:W3CDTF">2006-08-16T00:00:00Z</dcterms:created>
  <dcterms:modified xsi:type="dcterms:W3CDTF">2026-10-21T13:59:05Z</dcterms:modified>
  <dc:identifier>DAHX8RjKSRs</dc:identifier>
</cp:coreProperties>
</file>